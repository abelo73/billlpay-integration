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embeddedFontLst>
    <p:embeddedFont>
      <p:font typeface="Plus Jakarta Sans" pitchFamily="34" charset="0"/>
      <p:regular r:id="rId27"/>
      <p:bold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Sodo Gebeya is a local online marketplace for Wolaita Sodo. This deck walks through the problem, how each person uses the system, how trust works, how the business earns money, and the plan for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everyday problems: posts get lost in Telegram groups, there is no way to trust a seller, skilled workers are hard to find and compare, and job seeking still happens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Sodo Gebeya brings three things into one place: buying and selling, hiring skilled workers, and jobs with CVs. It works in Amharic and English, and people sign in with their phone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Buyers never pay. Shops and skilled workers are the paying customers. Individuals can sell used items free. Riders handle local delivery, and students and graduates use the jobs and CV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for a buyer: find, chat, pay safely with money held, pick up or get delivery, then confirm, which releases the money to the seller and opens a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Hiring follows the same pattern as buying: post what you need, get quotes, choose by rating and past work, pay with a held deposit or cash, then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Selling takes about two minutes. Every post is reviewed before it goes live, which keeps scams and junk off the site. The free plan allows 3 posts a week; paid plans unlock daily posting and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 is free for everyone and is the heart of the system. Voice notes matter because many people prefer speaking to typing. Offers make bargaining quick, and report and block keep it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app is a mobile-first website; a phone app is planned for months 7 to 12. The admin panel is where the team reviews posts and KYC, handles reports, and turns plans and rewards on or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KYC is required before any seller earns rewards. ID photos are stored privately, only KYC staff can see them, and they are deleted 12 months after an account closes. KYC is reviewed within 48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Jobs bring students and graduates to the site every day, which also brings buyers to sellers. Employers get their first post free, then pay 199 birr per 30-day post.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person sends their details through the app, a writer prepares the CV, and the person approves it or asks for changes. Writers are recent graduates paid per CV, for example 80, 140 or 200 birr.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business model. Buyers never pay, which keeps the marketplace full. Sellers pay for more posts, visibility and tools as they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Paid by telebirr or BillPay, monthly or yearly, with an SMS reminder. After 7 days unpaid a seller drops back to Free; nothing is deleted. We expect most payers on Seller, a third on Pro, and about 1 in 8 on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ads are sold once there are about 3,000 visitors a month. The 3% order fee (2% for Business) starts only when there are 500 or more online orders a month and buyers trust online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reward is a switch in the admin panel. Seller KYC stays on and is required before anyone earns. The airtime streak is a guaranteed reward for everyone who completes it; a lucky draw would need a lottery permit, so we avoid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 of 482 birr assumes 55% of payers on Seller, 33% on Pro and 12% on Business. Year-1 costs stay lean because the founders handle support and one field agent signs up shops.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end of month 3, every shop gets a report of its views, chats and orders, and the most active shops are offered the 25% founding discount. If fewer than 30 shops choose a paid plan, fix the offer before spending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risk is sellers not renewing. Sellers only keep paying if their plan brings customers, so the early months focus on bringing buyers and on the monthly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deciding test is simple: at the end of the free pilot, do at least 30 shops choose a paid plan? If yes, turn on paid plans and grow. If not, fix the offer before spending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3201A"/>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13201A"/>
                </a:solidFill>
                <a:latin typeface="Plus Jakarta Sans" pitchFamily="34" charset="0"/>
                <a:ea typeface="Plus Jakarta Sans" pitchFamily="34" charset="-122"/>
                <a:cs typeface="Plus Jakarta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3201A"/>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13201A"/>
                </a:solidFill>
                <a:latin typeface="Plus Jakarta Sans" pitchFamily="34" charset="0"/>
                <a:ea typeface="Plus Jakarta Sans" pitchFamily="34" charset="-122"/>
                <a:cs typeface="Plus Jakarta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5A43"/>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E5A43"/>
              </a:gs>
              <a:gs pos="100000">
                <a:srgbClr val="0A3B2C"/>
              </a:gs>
            </a:gsLst>
            <a:lin ang="2700000" scaled="0"/>
          </a:gradFill>
          <a:ln/>
        </p:spPr>
      </p:sp>
      <p:pic>
        <p:nvPicPr>
          <p:cNvPr id="3" name="Image 0" descr="Sodo Gebeya logo: a map pin with an S">    </p:cNvPr>
          <p:cNvPicPr>
            <a:picLocks noChangeAspect="1"/>
          </p:cNvPicPr>
          <p:nvPr/>
        </p:nvPicPr>
        <p:blipFill>
          <a:blip r:embed="rId1"/>
          <a:srcRect l="0" r="0" t="0" b="0"/>
          <a:stretch/>
        </p:blipFill>
        <p:spPr>
          <a:xfrm>
            <a:off x="812800" y="812800"/>
            <a:ext cx="762000" cy="762000"/>
          </a:xfrm>
          <a:prstGeom prst="rect">
            <a:avLst/>
          </a:prstGeom>
        </p:spPr>
      </p:pic>
      <p:sp>
        <p:nvSpPr>
          <p:cNvPr id="4" name="Text 1"/>
          <p:cNvSpPr/>
          <p:nvPr/>
        </p:nvSpPr>
        <p:spPr>
          <a:xfrm>
            <a:off x="1778000" y="998240"/>
            <a:ext cx="3406973" cy="416520"/>
          </a:xfrm>
          <a:prstGeom prst="rect">
            <a:avLst/>
          </a:prstGeom>
          <a:noFill/>
          <a:ln/>
        </p:spPr>
        <p:txBody>
          <a:bodyPr wrap="square" lIns="0" tIns="0" rIns="0" bIns="0" rtlCol="0" anchor="t">
            <a:normAutofit/>
          </a:bodyPr>
          <a:lstStyle/>
          <a:p>
            <a:pPr algn="l" indent="0" marL="0">
              <a:lnSpc>
                <a:spcPts val="3080"/>
              </a:lnSpc>
              <a:buNone/>
            </a:pPr>
            <a:r>
              <a:rPr lang="en-US" sz="2200" b="1" spc="-25" kern="0" dirty="0">
                <a:solidFill>
                  <a:srgbClr val="F6F4EE"/>
                </a:solidFill>
                <a:latin typeface="Plus Jakarta Sans" pitchFamily="34" charset="0"/>
                <a:ea typeface="Plus Jakarta Sans" pitchFamily="34" charset="-122"/>
                <a:cs typeface="Plus Jakarta Sans" pitchFamily="34" charset="-120"/>
              </a:rPr>
              <a:t>Sodo Gebeya </a:t>
            </a:r>
            <a:r>
              <a:rPr lang="en-US" sz="2200" b="1" spc="-25" kern="0" dirty="0">
                <a:solidFill>
                  <a:srgbClr val="E39B2D"/>
                </a:solidFill>
                <a:latin typeface="Plus Jakarta Sans" pitchFamily="34" charset="0"/>
                <a:ea typeface="Plus Jakarta Sans" pitchFamily="34" charset="-122"/>
                <a:cs typeface="Plus Jakarta Sans" pitchFamily="34" charset="-120"/>
              </a:rPr>
              <a:t>ሶዶ ገበያ</a:t>
            </a:r>
            <a:endParaRPr lang="en-US" sz="2200" dirty="0"/>
          </a:p>
        </p:txBody>
      </p:sp>
      <p:sp>
        <p:nvSpPr>
          <p:cNvPr id="5" name="Text 2"/>
          <p:cNvSpPr/>
          <p:nvPr/>
        </p:nvSpPr>
        <p:spPr>
          <a:xfrm>
            <a:off x="812800" y="22785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39B2D"/>
                </a:solidFill>
                <a:latin typeface="Plus Jakarta Sans" pitchFamily="34" charset="0"/>
                <a:ea typeface="Plus Jakarta Sans" pitchFamily="34" charset="-122"/>
                <a:cs typeface="Plus Jakarta Sans" pitchFamily="34" charset="-120"/>
              </a:rPr>
              <a:t>SYSTEM OVERVIEW</a:t>
            </a:r>
            <a:endParaRPr lang="en-US" sz="1400" dirty="0"/>
          </a:p>
        </p:txBody>
      </p:sp>
      <p:sp>
        <p:nvSpPr>
          <p:cNvPr id="6" name="Text 3"/>
          <p:cNvSpPr/>
          <p:nvPr>
            <p:ph type="title"/>
          </p:nvPr>
        </p:nvSpPr>
        <p:spPr>
          <a:xfrm>
            <a:off x="812800" y="2730599"/>
            <a:ext cx="10883392" cy="1579761"/>
          </a:xfrm>
          <a:prstGeom prst="rect">
            <a:avLst/>
          </a:prstGeom>
          <a:noFill/>
          <a:ln/>
        </p:spPr>
        <p:txBody>
          <a:bodyPr wrap="square" lIns="0" tIns="0" rIns="0" bIns="0" rtlCol="0" anchor="t">
            <a:normAutofit/>
          </a:bodyPr>
          <a:lstStyle/>
          <a:p>
            <a:pPr algn="l" indent="0" marL="0">
              <a:lnSpc>
                <a:spcPts val="6120"/>
              </a:lnSpc>
              <a:buNone/>
            </a:pPr>
            <a:r>
              <a:rPr lang="en-US" sz="6000" b="1" i="0" spc="-150" kern="0" dirty="0">
                <a:solidFill>
                  <a:srgbClr val="F6F4EE"/>
                </a:solidFill>
                <a:latin typeface="Plus Jakarta Sans" pitchFamily="34" charset="0"/>
                <a:ea typeface="Plus Jakarta Sans" pitchFamily="34" charset="-122"/>
                <a:cs typeface="Plus Jakarta Sans" pitchFamily="34" charset="-120"/>
              </a:rPr>
              <a:t>How the whole</a:t>
            </a:r>
            <a:endParaRPr lang="en-US" sz="6000" dirty="0"/>
          </a:p>
          <a:p>
            <a:pPr algn="l" indent="0" marL="0">
              <a:lnSpc>
                <a:spcPts val="6120"/>
              </a:lnSpc>
              <a:buNone/>
            </a:pPr>
            <a:r>
              <a:rPr lang="en-US" sz="6000" b="1" i="0" spc="-150" kern="0" dirty="0">
                <a:solidFill>
                  <a:srgbClr val="F6F4EE"/>
                </a:solidFill>
                <a:latin typeface="Plus Jakarta Sans" pitchFamily="34" charset="0"/>
                <a:ea typeface="Plus Jakarta Sans" pitchFamily="34" charset="-122"/>
                <a:cs typeface="Plus Jakarta Sans" pitchFamily="34" charset="-120"/>
              </a:rPr>
              <a:t>system works</a:t>
            </a:r>
            <a:endParaRPr lang="en-US" sz="6000" dirty="0"/>
          </a:p>
        </p:txBody>
      </p:sp>
      <p:sp>
        <p:nvSpPr>
          <p:cNvPr id="7" name="Text 4"/>
          <p:cNvSpPr/>
          <p:nvPr/>
        </p:nvSpPr>
        <p:spPr>
          <a:xfrm>
            <a:off x="812800" y="4488160"/>
            <a:ext cx="784860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FE3D9"/>
                </a:solidFill>
                <a:latin typeface="Plus Jakarta Sans" pitchFamily="34" charset="0"/>
                <a:ea typeface="Plus Jakarta Sans" pitchFamily="34" charset="-122"/>
                <a:cs typeface="Plus Jakarta Sans" pitchFamily="34" charset="-120"/>
              </a:rPr>
              <a:t>Buy and sell, hire skilled workers, and find jobs, all in one trusted local marketplace for Wolaita Sodo.</a:t>
            </a:r>
            <a:endParaRPr lang="en-US" sz="1800" dirty="0"/>
          </a:p>
        </p:txBody>
      </p:sp>
      <p:sp>
        <p:nvSpPr>
          <p:cNvPr id="8" name="Text 5"/>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9BB"/>
                </a:solidFill>
                <a:latin typeface="Plus Jakarta Sans" pitchFamily="34" charset="0"/>
                <a:ea typeface="Plus Jakarta Sans" pitchFamily="34" charset="-122"/>
                <a:cs typeface="Plus Jakarta Sans" pitchFamily="34" charset="-120"/>
              </a:rPr>
              <a:t>Prepared by Abel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590F"/>
                </a:solidFill>
                <a:latin typeface="Plus Jakarta Sans" pitchFamily="34" charset="0"/>
                <a:ea typeface="Plus Jakarta Sans" pitchFamily="34" charset="-122"/>
                <a:cs typeface="Plus Jakarta Sans" pitchFamily="34" charset="-120"/>
              </a:rPr>
              <a:t>THE PROBLEM</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3201A"/>
                </a:solidFill>
                <a:latin typeface="Plus Jakarta Sans" pitchFamily="34" charset="0"/>
                <a:ea typeface="Plus Jakarta Sans" pitchFamily="34" charset="-122"/>
                <a:cs typeface="Plus Jakarta Sans" pitchFamily="34" charset="-120"/>
              </a:rPr>
              <a:t>Trading in Sodo is hard today</a:t>
            </a:r>
            <a:endParaRPr lang="en-US" sz="3600" dirty="0"/>
          </a:p>
        </p:txBody>
      </p:sp>
      <p:sp>
        <p:nvSpPr>
          <p:cNvPr id="4" name="Shape 2"/>
          <p:cNvSpPr/>
          <p:nvPr/>
        </p:nvSpPr>
        <p:spPr>
          <a:xfrm>
            <a:off x="815975" y="1989336"/>
            <a:ext cx="5175250" cy="1393031"/>
          </a:xfrm>
          <a:prstGeom prst="roundRect">
            <a:avLst>
              <a:gd name="adj" fmla="val 10712"/>
            </a:avLst>
          </a:prstGeom>
          <a:solidFill>
            <a:srgbClr val="FFFEFA"/>
          </a:solidFill>
          <a:ln w="6350">
            <a:solidFill>
              <a:srgbClr val="E2DED3"/>
            </a:solidFill>
            <a:prstDash val="solid"/>
          </a:ln>
        </p:spPr>
      </p:sp>
      <p:pic>
        <p:nvPicPr>
          <p:cNvPr id="5" name="Image 0" descr="Chat">    </p:cNvPr>
          <p:cNvPicPr>
            <a:picLocks noChangeAspect="1"/>
          </p:cNvPicPr>
          <p:nvPr/>
        </p:nvPicPr>
        <p:blipFill>
          <a:blip r:embed="rId1"/>
          <a:srcRect l="0" r="0" t="0" b="0"/>
          <a:stretch/>
        </p:blipFill>
        <p:spPr>
          <a:xfrm>
            <a:off x="1073150" y="2246511"/>
            <a:ext cx="406400" cy="406400"/>
          </a:xfrm>
          <a:prstGeom prst="rect">
            <a:avLst/>
          </a:prstGeom>
        </p:spPr>
      </p:pic>
      <p:sp>
        <p:nvSpPr>
          <p:cNvPr id="6" name="Text 3"/>
          <p:cNvSpPr/>
          <p:nvPr/>
        </p:nvSpPr>
        <p:spPr>
          <a:xfrm>
            <a:off x="1682750" y="2246511"/>
            <a:ext cx="417283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01A"/>
                </a:solidFill>
                <a:latin typeface="Plus Jakarta Sans" pitchFamily="34" charset="0"/>
                <a:ea typeface="Plus Jakarta Sans" pitchFamily="34" charset="-122"/>
                <a:cs typeface="Plus Jakarta Sans" pitchFamily="34" charset="-120"/>
              </a:rPr>
              <a:t>Posts get lost</a:t>
            </a:r>
            <a:endParaRPr lang="en-US" sz="2000" dirty="0"/>
          </a:p>
        </p:txBody>
      </p:sp>
      <p:sp>
        <p:nvSpPr>
          <p:cNvPr id="7" name="Text 4"/>
          <p:cNvSpPr/>
          <p:nvPr/>
        </p:nvSpPr>
        <p:spPr>
          <a:xfrm>
            <a:off x="1682750" y="2627511"/>
            <a:ext cx="417283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751"/>
                </a:solidFill>
                <a:latin typeface="Plus Jakarta Sans" pitchFamily="34" charset="0"/>
                <a:ea typeface="Plus Jakarta Sans" pitchFamily="34" charset="-122"/>
                <a:cs typeface="Plus Jakarta Sans" pitchFamily="34" charset="-120"/>
              </a:rPr>
              <a:t>Items are scattered across Telegram groups. Posts vanish in minutes and there is no search.</a:t>
            </a:r>
            <a:endParaRPr lang="en-US" sz="1400" dirty="0"/>
          </a:p>
        </p:txBody>
      </p:sp>
      <p:sp>
        <p:nvSpPr>
          <p:cNvPr id="8" name="Shape 5"/>
          <p:cNvSpPr/>
          <p:nvPr/>
        </p:nvSpPr>
        <p:spPr>
          <a:xfrm>
            <a:off x="6200775" y="1989336"/>
            <a:ext cx="5175250" cy="1393031"/>
          </a:xfrm>
          <a:prstGeom prst="roundRect">
            <a:avLst>
              <a:gd name="adj" fmla="val 10712"/>
            </a:avLst>
          </a:prstGeom>
          <a:solidFill>
            <a:srgbClr val="FFFEFA"/>
          </a:solidFill>
          <a:ln w="6350">
            <a:solidFill>
              <a:srgbClr val="E2DED3"/>
            </a:solidFill>
            <a:prstDash val="solid"/>
          </a:ln>
        </p:spPr>
      </p:sp>
      <p:pic>
        <p:nvPicPr>
          <p:cNvPr id="9" name="Image 1" descr="Warning">    </p:cNvPr>
          <p:cNvPicPr>
            <a:picLocks noChangeAspect="1"/>
          </p:cNvPicPr>
          <p:nvPr/>
        </p:nvPicPr>
        <p:blipFill>
          <a:blip r:embed="rId2"/>
          <a:srcRect l="0" r="0" t="0" b="0"/>
          <a:stretch/>
        </p:blipFill>
        <p:spPr>
          <a:xfrm>
            <a:off x="6457950" y="2246511"/>
            <a:ext cx="406400" cy="406400"/>
          </a:xfrm>
          <a:prstGeom prst="rect">
            <a:avLst/>
          </a:prstGeom>
        </p:spPr>
      </p:pic>
      <p:sp>
        <p:nvSpPr>
          <p:cNvPr id="10" name="Text 6"/>
          <p:cNvSpPr/>
          <p:nvPr/>
        </p:nvSpPr>
        <p:spPr>
          <a:xfrm>
            <a:off x="7067550" y="2246511"/>
            <a:ext cx="417283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01A"/>
                </a:solidFill>
                <a:latin typeface="Plus Jakarta Sans" pitchFamily="34" charset="0"/>
                <a:ea typeface="Plus Jakarta Sans" pitchFamily="34" charset="-122"/>
                <a:cs typeface="Plus Jakarta Sans" pitchFamily="34" charset="-120"/>
              </a:rPr>
              <a:t>No trust</a:t>
            </a:r>
            <a:endParaRPr lang="en-US" sz="2000" dirty="0"/>
          </a:p>
        </p:txBody>
      </p:sp>
      <p:sp>
        <p:nvSpPr>
          <p:cNvPr id="11" name="Text 7"/>
          <p:cNvSpPr/>
          <p:nvPr/>
        </p:nvSpPr>
        <p:spPr>
          <a:xfrm>
            <a:off x="7067550" y="2627511"/>
            <a:ext cx="417283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751"/>
                </a:solidFill>
                <a:latin typeface="Plus Jakarta Sans" pitchFamily="34" charset="0"/>
                <a:ea typeface="Plus Jakarta Sans" pitchFamily="34" charset="-122"/>
                <a:cs typeface="Plus Jakarta Sans" pitchFamily="34" charset="-120"/>
              </a:rPr>
              <a:t>No ID checks, no reviews. Buyers send money first and have nothing to fall back on.</a:t>
            </a:r>
            <a:endParaRPr lang="en-US" sz="1400" dirty="0"/>
          </a:p>
        </p:txBody>
      </p:sp>
      <p:sp>
        <p:nvSpPr>
          <p:cNvPr id="12" name="Shape 8"/>
          <p:cNvSpPr/>
          <p:nvPr/>
        </p:nvSpPr>
        <p:spPr>
          <a:xfrm>
            <a:off x="815975" y="3591917"/>
            <a:ext cx="5175250" cy="1393031"/>
          </a:xfrm>
          <a:prstGeom prst="roundRect">
            <a:avLst>
              <a:gd name="adj" fmla="val 10712"/>
            </a:avLst>
          </a:prstGeom>
          <a:solidFill>
            <a:srgbClr val="FFFEFA"/>
          </a:solidFill>
          <a:ln w="6350">
            <a:solidFill>
              <a:srgbClr val="E2DED3"/>
            </a:solidFill>
            <a:prstDash val="solid"/>
          </a:ln>
        </p:spPr>
      </p:sp>
      <p:pic>
        <p:nvPicPr>
          <p:cNvPr id="13" name="Image 2" descr="Wrench">    </p:cNvPr>
          <p:cNvPicPr>
            <a:picLocks noChangeAspect="1"/>
          </p:cNvPicPr>
          <p:nvPr/>
        </p:nvPicPr>
        <p:blipFill>
          <a:blip r:embed="rId3"/>
          <a:srcRect l="0" r="0" t="0" b="0"/>
          <a:stretch/>
        </p:blipFill>
        <p:spPr>
          <a:xfrm>
            <a:off x="1073150" y="3849092"/>
            <a:ext cx="406400" cy="406400"/>
          </a:xfrm>
          <a:prstGeom prst="rect">
            <a:avLst/>
          </a:prstGeom>
        </p:spPr>
      </p:pic>
      <p:sp>
        <p:nvSpPr>
          <p:cNvPr id="14" name="Text 9"/>
          <p:cNvSpPr/>
          <p:nvPr/>
        </p:nvSpPr>
        <p:spPr>
          <a:xfrm>
            <a:off x="1682750" y="3849092"/>
            <a:ext cx="417283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01A"/>
                </a:solidFill>
                <a:latin typeface="Plus Jakarta Sans" pitchFamily="34" charset="0"/>
                <a:ea typeface="Plus Jakarta Sans" pitchFamily="34" charset="-122"/>
                <a:cs typeface="Plus Jakarta Sans" pitchFamily="34" charset="-120"/>
              </a:rPr>
              <a:t>Workers are hard to find</a:t>
            </a:r>
            <a:endParaRPr lang="en-US" sz="2000" dirty="0"/>
          </a:p>
        </p:txBody>
      </p:sp>
      <p:sp>
        <p:nvSpPr>
          <p:cNvPr id="15" name="Text 10"/>
          <p:cNvSpPr/>
          <p:nvPr/>
        </p:nvSpPr>
        <p:spPr>
          <a:xfrm>
            <a:off x="1682750" y="4230092"/>
            <a:ext cx="417283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751"/>
                </a:solidFill>
                <a:latin typeface="Plus Jakarta Sans" pitchFamily="34" charset="0"/>
                <a:ea typeface="Plus Jakarta Sans" pitchFamily="34" charset="-122"/>
                <a:cs typeface="Plus Jakarta Sans" pitchFamily="34" charset="-120"/>
              </a:rPr>
              <a:t>Plumbers, electricians and tailors are found by word of mouth, with no way to compare.</a:t>
            </a:r>
            <a:endParaRPr lang="en-US" sz="1400" dirty="0"/>
          </a:p>
        </p:txBody>
      </p:sp>
      <p:sp>
        <p:nvSpPr>
          <p:cNvPr id="16" name="Shape 11"/>
          <p:cNvSpPr/>
          <p:nvPr/>
        </p:nvSpPr>
        <p:spPr>
          <a:xfrm>
            <a:off x="6200775" y="3591917"/>
            <a:ext cx="5175250" cy="1393031"/>
          </a:xfrm>
          <a:prstGeom prst="roundRect">
            <a:avLst>
              <a:gd name="adj" fmla="val 10712"/>
            </a:avLst>
          </a:prstGeom>
          <a:solidFill>
            <a:srgbClr val="FFFEFA"/>
          </a:solidFill>
          <a:ln w="6350">
            <a:solidFill>
              <a:srgbClr val="E2DED3"/>
            </a:solidFill>
            <a:prstDash val="solid"/>
          </a:ln>
        </p:spPr>
      </p:sp>
      <p:pic>
        <p:nvPicPr>
          <p:cNvPr id="17" name="Image 3" descr="GraduationCap">    </p:cNvPr>
          <p:cNvPicPr>
            <a:picLocks noChangeAspect="1"/>
          </p:cNvPicPr>
          <p:nvPr/>
        </p:nvPicPr>
        <p:blipFill>
          <a:blip r:embed="rId4"/>
          <a:srcRect l="0" r="0" t="0" b="0"/>
          <a:stretch/>
        </p:blipFill>
        <p:spPr>
          <a:xfrm>
            <a:off x="6457950" y="3849092"/>
            <a:ext cx="406400" cy="406400"/>
          </a:xfrm>
          <a:prstGeom prst="rect">
            <a:avLst/>
          </a:prstGeom>
        </p:spPr>
      </p:pic>
      <p:sp>
        <p:nvSpPr>
          <p:cNvPr id="18" name="Text 12"/>
          <p:cNvSpPr/>
          <p:nvPr/>
        </p:nvSpPr>
        <p:spPr>
          <a:xfrm>
            <a:off x="7067550" y="3849092"/>
            <a:ext cx="417283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01A"/>
                </a:solidFill>
                <a:latin typeface="Plus Jakarta Sans" pitchFamily="34" charset="0"/>
                <a:ea typeface="Plus Jakarta Sans" pitchFamily="34" charset="-122"/>
                <a:cs typeface="Plus Jakarta Sans" pitchFamily="34" charset="-120"/>
              </a:rPr>
              <a:t>Jobs still on paper</a:t>
            </a:r>
            <a:endParaRPr lang="en-US" sz="2000" dirty="0"/>
          </a:p>
        </p:txBody>
      </p:sp>
      <p:sp>
        <p:nvSpPr>
          <p:cNvPr id="19" name="Text 13"/>
          <p:cNvSpPr/>
          <p:nvPr/>
        </p:nvSpPr>
        <p:spPr>
          <a:xfrm>
            <a:off x="7067550" y="4230092"/>
            <a:ext cx="417283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751"/>
                </a:solidFill>
                <a:latin typeface="Plus Jakarta Sans" pitchFamily="34" charset="0"/>
                <a:ea typeface="Plus Jakarta Sans" pitchFamily="34" charset="-122"/>
                <a:cs typeface="Plus Jakarta Sans" pitchFamily="34" charset="-120"/>
              </a:rPr>
              <a:t>Graduates print and carry CVs. Employers have no simple place to post jobs.</a:t>
            </a:r>
            <a:endParaRPr lang="en-US" sz="1400" dirty="0"/>
          </a:p>
        </p:txBody>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36C"/>
                </a:solidFill>
                <a:latin typeface="Plus Jakarta Sans" pitchFamily="34" charset="0"/>
                <a:ea typeface="Plus Jakarta Sans" pitchFamily="34" charset="-122"/>
                <a:cs typeface="Plus Jakarta Sans" pitchFamily="34" charset="-120"/>
              </a:rPr>
              <a:t>Sodo Gebeya · System overview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3B2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39B2D"/>
                </a:solidFill>
                <a:latin typeface="Plus Jakarta Sans" pitchFamily="34" charset="0"/>
                <a:ea typeface="Plus Jakarta Sans" pitchFamily="34" charset="-122"/>
                <a:cs typeface="Plus Jakarta Sans" pitchFamily="34" charset="-120"/>
              </a:rPr>
              <a:t>THE SOLUTION</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F6F4EE"/>
                </a:solidFill>
                <a:latin typeface="Plus Jakarta Sans" pitchFamily="34" charset="0"/>
                <a:ea typeface="Plus Jakarta Sans" pitchFamily="34" charset="-122"/>
                <a:cs typeface="Plus Jakarta Sans" pitchFamily="34" charset="-120"/>
              </a:rPr>
              <a:t>One trusted marketplace for Sodo</a:t>
            </a:r>
            <a:endParaRPr lang="en-US" sz="3600" dirty="0"/>
          </a:p>
        </p:txBody>
      </p:sp>
      <p:sp>
        <p:nvSpPr>
          <p:cNvPr id="4" name="Shape 2"/>
          <p:cNvSpPr/>
          <p:nvPr/>
        </p:nvSpPr>
        <p:spPr>
          <a:xfrm>
            <a:off x="812800" y="1986161"/>
            <a:ext cx="3386634" cy="2351782"/>
          </a:xfrm>
          <a:prstGeom prst="roundRect">
            <a:avLst>
              <a:gd name="adj" fmla="val 6480"/>
            </a:avLst>
          </a:prstGeom>
          <a:solidFill>
            <a:srgbClr val="0E5A43"/>
          </a:solidFill>
          <a:ln/>
        </p:spPr>
      </p:sp>
      <p:pic>
        <p:nvPicPr>
          <p:cNvPr id="5" name="Image 0" descr="Search">    </p:cNvPr>
          <p:cNvPicPr>
            <a:picLocks noChangeAspect="1"/>
          </p:cNvPicPr>
          <p:nvPr/>
        </p:nvPicPr>
        <p:blipFill>
          <a:blip r:embed="rId1"/>
          <a:srcRect l="0" r="0" t="0" b="0"/>
          <a:stretch/>
        </p:blipFill>
        <p:spPr>
          <a:xfrm>
            <a:off x="1117600" y="2290961"/>
            <a:ext cx="406400" cy="406400"/>
          </a:xfrm>
          <a:prstGeom prst="rect">
            <a:avLst/>
          </a:prstGeom>
        </p:spPr>
      </p:pic>
      <p:sp>
        <p:nvSpPr>
          <p:cNvPr id="6" name="Text 3"/>
          <p:cNvSpPr/>
          <p:nvPr/>
        </p:nvSpPr>
        <p:spPr>
          <a:xfrm>
            <a:off x="1117600" y="2824361"/>
            <a:ext cx="286034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4EE"/>
                </a:solidFill>
                <a:latin typeface="Plus Jakarta Sans" pitchFamily="34" charset="0"/>
                <a:ea typeface="Plus Jakarta Sans" pitchFamily="34" charset="-122"/>
                <a:cs typeface="Plus Jakarta Sans" pitchFamily="34" charset="-120"/>
              </a:rPr>
              <a:t>Buy and sell</a:t>
            </a:r>
            <a:endParaRPr lang="en-US" sz="2200" dirty="0"/>
          </a:p>
        </p:txBody>
      </p:sp>
      <p:sp>
        <p:nvSpPr>
          <p:cNvPr id="7" name="Text 4"/>
          <p:cNvSpPr/>
          <p:nvPr/>
        </p:nvSpPr>
        <p:spPr>
          <a:xfrm>
            <a:off x="1117600" y="3286621"/>
            <a:ext cx="286034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E3D9"/>
                </a:solidFill>
                <a:latin typeface="Plus Jakarta Sans" pitchFamily="34" charset="0"/>
                <a:ea typeface="Plus Jakarta Sans" pitchFamily="34" charset="-122"/>
                <a:cs typeface="Plus Jakarta Sans" pitchFamily="34" charset="-120"/>
              </a:rPr>
              <a:t>Shops and people post items. Buyers search, chat, and pay safely.</a:t>
            </a:r>
            <a:endParaRPr lang="en-US" sz="1400" dirty="0"/>
          </a:p>
        </p:txBody>
      </p:sp>
      <p:sp>
        <p:nvSpPr>
          <p:cNvPr id="8" name="Shape 5"/>
          <p:cNvSpPr/>
          <p:nvPr/>
        </p:nvSpPr>
        <p:spPr>
          <a:xfrm>
            <a:off x="4402634" y="1986161"/>
            <a:ext cx="3386733" cy="2351782"/>
          </a:xfrm>
          <a:prstGeom prst="roundRect">
            <a:avLst>
              <a:gd name="adj" fmla="val 6480"/>
            </a:avLst>
          </a:prstGeom>
          <a:solidFill>
            <a:srgbClr val="0E5A43"/>
          </a:solidFill>
          <a:ln/>
        </p:spPr>
      </p:sp>
      <p:pic>
        <p:nvPicPr>
          <p:cNvPr id="9" name="Image 1" descr="Tool">    </p:cNvPr>
          <p:cNvPicPr>
            <a:picLocks noChangeAspect="1"/>
          </p:cNvPicPr>
          <p:nvPr/>
        </p:nvPicPr>
        <p:blipFill>
          <a:blip r:embed="rId2"/>
          <a:srcRect l="0" r="0" t="0" b="0"/>
          <a:stretch/>
        </p:blipFill>
        <p:spPr>
          <a:xfrm>
            <a:off x="4707434" y="2290961"/>
            <a:ext cx="406400" cy="406400"/>
          </a:xfrm>
          <a:prstGeom prst="rect">
            <a:avLst/>
          </a:prstGeom>
        </p:spPr>
      </p:pic>
      <p:sp>
        <p:nvSpPr>
          <p:cNvPr id="10" name="Text 6"/>
          <p:cNvSpPr/>
          <p:nvPr/>
        </p:nvSpPr>
        <p:spPr>
          <a:xfrm>
            <a:off x="4707434" y="2824361"/>
            <a:ext cx="286044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4EE"/>
                </a:solidFill>
                <a:latin typeface="Plus Jakarta Sans" pitchFamily="34" charset="0"/>
                <a:ea typeface="Plus Jakarta Sans" pitchFamily="34" charset="-122"/>
                <a:cs typeface="Plus Jakarta Sans" pitchFamily="34" charset="-120"/>
              </a:rPr>
              <a:t>Hire workers</a:t>
            </a:r>
            <a:endParaRPr lang="en-US" sz="2200" dirty="0"/>
          </a:p>
        </p:txBody>
      </p:sp>
      <p:sp>
        <p:nvSpPr>
          <p:cNvPr id="11" name="Text 7"/>
          <p:cNvSpPr/>
          <p:nvPr/>
        </p:nvSpPr>
        <p:spPr>
          <a:xfrm>
            <a:off x="4707434" y="3286621"/>
            <a:ext cx="2860447"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E3D9"/>
                </a:solidFill>
                <a:latin typeface="Plus Jakarta Sans" pitchFamily="34" charset="0"/>
                <a:ea typeface="Plus Jakarta Sans" pitchFamily="34" charset="-122"/>
                <a:cs typeface="Plus Jakarta Sans" pitchFamily="34" charset="-120"/>
              </a:rPr>
              <a:t>Post a job, get quotes from nearby workers, compare ratings, choose.</a:t>
            </a:r>
            <a:endParaRPr lang="en-US" sz="1400" dirty="0"/>
          </a:p>
        </p:txBody>
      </p:sp>
      <p:sp>
        <p:nvSpPr>
          <p:cNvPr id="12" name="Shape 8"/>
          <p:cNvSpPr/>
          <p:nvPr/>
        </p:nvSpPr>
        <p:spPr>
          <a:xfrm>
            <a:off x="7992566" y="1986161"/>
            <a:ext cx="3386634" cy="2351782"/>
          </a:xfrm>
          <a:prstGeom prst="roundRect">
            <a:avLst>
              <a:gd name="adj" fmla="val 6480"/>
            </a:avLst>
          </a:prstGeom>
          <a:solidFill>
            <a:srgbClr val="0E5A43"/>
          </a:solidFill>
          <a:ln/>
        </p:spPr>
      </p:sp>
      <p:pic>
        <p:nvPicPr>
          <p:cNvPr id="13" name="Image 2" descr="GraduationCap">    </p:cNvPr>
          <p:cNvPicPr>
            <a:picLocks noChangeAspect="1"/>
          </p:cNvPicPr>
          <p:nvPr/>
        </p:nvPicPr>
        <p:blipFill>
          <a:blip r:embed="rId3"/>
          <a:srcRect l="0" r="0" t="0" b="0"/>
          <a:stretch/>
        </p:blipFill>
        <p:spPr>
          <a:xfrm>
            <a:off x="8297366" y="2290961"/>
            <a:ext cx="406400" cy="406400"/>
          </a:xfrm>
          <a:prstGeom prst="rect">
            <a:avLst/>
          </a:prstGeom>
        </p:spPr>
      </p:pic>
      <p:sp>
        <p:nvSpPr>
          <p:cNvPr id="14" name="Text 9"/>
          <p:cNvSpPr/>
          <p:nvPr/>
        </p:nvSpPr>
        <p:spPr>
          <a:xfrm>
            <a:off x="8297366" y="2824361"/>
            <a:ext cx="286034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4EE"/>
                </a:solidFill>
                <a:latin typeface="Plus Jakarta Sans" pitchFamily="34" charset="0"/>
                <a:ea typeface="Plus Jakarta Sans" pitchFamily="34" charset="-122"/>
                <a:cs typeface="Plus Jakarta Sans" pitchFamily="34" charset="-120"/>
              </a:rPr>
              <a:t>Jobs and CVs</a:t>
            </a:r>
            <a:endParaRPr lang="en-US" sz="2200" dirty="0"/>
          </a:p>
        </p:txBody>
      </p:sp>
      <p:sp>
        <p:nvSpPr>
          <p:cNvPr id="15" name="Text 10"/>
          <p:cNvSpPr/>
          <p:nvPr/>
        </p:nvSpPr>
        <p:spPr>
          <a:xfrm>
            <a:off x="8297366" y="3286621"/>
            <a:ext cx="286034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E3D9"/>
                </a:solidFill>
                <a:latin typeface="Plus Jakarta Sans" pitchFamily="34" charset="0"/>
                <a:ea typeface="Plus Jakarta Sans" pitchFamily="34" charset="-122"/>
                <a:cs typeface="Plus Jakarta Sans" pitchFamily="34" charset="-120"/>
              </a:rPr>
              <a:t>Free profiles, auto-built CVs and one-tap apply for students and graduates.</a:t>
            </a:r>
            <a:endParaRPr lang="en-US" sz="1400" dirty="0"/>
          </a:p>
        </p:txBody>
      </p:sp>
      <p:sp>
        <p:nvSpPr>
          <p:cNvPr id="16" name="Text 11"/>
          <p:cNvSpPr/>
          <p:nvPr/>
        </p:nvSpPr>
        <p:spPr>
          <a:xfrm>
            <a:off x="812800" y="4693543"/>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FE3D9"/>
                </a:solidFill>
                <a:latin typeface="Plus Jakarta Sans" pitchFamily="34" charset="0"/>
                <a:ea typeface="Plus Jakarta Sans" pitchFamily="34" charset="-122"/>
                <a:cs typeface="Plus Jakarta Sans" pitchFamily="34" charset="-120"/>
              </a:rPr>
              <a:t>Amharic and English · phone sign-in · built mobile-first</a:t>
            </a:r>
            <a:endParaRPr lang="en-US" sz="1500" dirty="0"/>
          </a:p>
        </p:txBody>
      </p:sp>
      <p:sp>
        <p:nvSpPr>
          <p:cNvPr id="17"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9BB"/>
                </a:solidFill>
                <a:latin typeface="Plus Jakarta Sans" pitchFamily="34" charset="0"/>
                <a:ea typeface="Plus Jakarta Sans" pitchFamily="34" charset="-122"/>
                <a:cs typeface="Plus Jakarta Sans" pitchFamily="34" charset="-120"/>
              </a:rPr>
              <a:t>Sodo Gebeya · System overview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590F"/>
                </a:solidFill>
                <a:latin typeface="Plus Jakarta Sans" pitchFamily="34" charset="0"/>
                <a:ea typeface="Plus Jakarta Sans" pitchFamily="34" charset="-122"/>
                <a:cs typeface="Plus Jakarta Sans" pitchFamily="34" charset="-120"/>
              </a:rPr>
              <a:t>WHO USES IT</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3201A"/>
                </a:solidFill>
                <a:latin typeface="Plus Jakarta Sans" pitchFamily="34" charset="0"/>
                <a:ea typeface="Plus Jakarta Sans" pitchFamily="34" charset="-122"/>
                <a:cs typeface="Plus Jakarta Sans" pitchFamily="34" charset="-120"/>
              </a:rPr>
              <a:t>Six kinds of people, one app</a:t>
            </a:r>
            <a:endParaRPr lang="en-US" sz="3600" dirty="0"/>
          </a:p>
        </p:txBody>
      </p:sp>
      <p:sp>
        <p:nvSpPr>
          <p:cNvPr id="4" name="Shape 2"/>
          <p:cNvSpPr/>
          <p:nvPr/>
        </p:nvSpPr>
        <p:spPr>
          <a:xfrm>
            <a:off x="815975" y="1989336"/>
            <a:ext cx="3380284" cy="1393031"/>
          </a:xfrm>
          <a:prstGeom prst="roundRect">
            <a:avLst>
              <a:gd name="adj" fmla="val 10712"/>
            </a:avLst>
          </a:prstGeom>
          <a:solidFill>
            <a:srgbClr val="FFFEFA"/>
          </a:solidFill>
          <a:ln w="6350">
            <a:solidFill>
              <a:srgbClr val="E2DED3"/>
            </a:solidFill>
            <a:prstDash val="solid"/>
          </a:ln>
        </p:spPr>
      </p:sp>
      <p:sp>
        <p:nvSpPr>
          <p:cNvPr id="5" name="Text 3"/>
          <p:cNvSpPr/>
          <p:nvPr/>
        </p:nvSpPr>
        <p:spPr>
          <a:xfrm>
            <a:off x="1073150" y="2246511"/>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5A43"/>
                </a:solidFill>
                <a:latin typeface="Plus Jakarta Sans" pitchFamily="34" charset="0"/>
                <a:ea typeface="Plus Jakarta Sans" pitchFamily="34" charset="-122"/>
                <a:cs typeface="Plus Jakarta Sans" pitchFamily="34" charset="-120"/>
              </a:rPr>
              <a:t>Buyers</a:t>
            </a:r>
            <a:endParaRPr lang="en-US" sz="2000" dirty="0"/>
          </a:p>
        </p:txBody>
      </p:sp>
      <p:sp>
        <p:nvSpPr>
          <p:cNvPr id="6" name="Text 4"/>
          <p:cNvSpPr/>
          <p:nvPr/>
        </p:nvSpPr>
        <p:spPr>
          <a:xfrm>
            <a:off x="1073150" y="2627511"/>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751"/>
                </a:solidFill>
                <a:latin typeface="Plus Jakarta Sans" pitchFamily="34" charset="0"/>
                <a:ea typeface="Plus Jakarta Sans" pitchFamily="34" charset="-122"/>
                <a:cs typeface="Plus Jakarta Sans" pitchFamily="34" charset="-120"/>
              </a:rPr>
              <a:t>Always free. Search, chat, buy safely.</a:t>
            </a:r>
            <a:endParaRPr lang="en-US" sz="1400" dirty="0"/>
          </a:p>
        </p:txBody>
      </p:sp>
      <p:sp>
        <p:nvSpPr>
          <p:cNvPr id="7" name="Shape 5"/>
          <p:cNvSpPr/>
          <p:nvPr/>
        </p:nvSpPr>
        <p:spPr>
          <a:xfrm>
            <a:off x="4405809" y="1989336"/>
            <a:ext cx="3380284" cy="1393031"/>
          </a:xfrm>
          <a:prstGeom prst="roundRect">
            <a:avLst>
              <a:gd name="adj" fmla="val 10712"/>
            </a:avLst>
          </a:prstGeom>
          <a:solidFill>
            <a:srgbClr val="FFFEFA"/>
          </a:solidFill>
          <a:ln w="6350">
            <a:solidFill>
              <a:srgbClr val="E2DED3"/>
            </a:solidFill>
            <a:prstDash val="solid"/>
          </a:ln>
        </p:spPr>
      </p:sp>
      <p:sp>
        <p:nvSpPr>
          <p:cNvPr id="8" name="Text 6"/>
          <p:cNvSpPr/>
          <p:nvPr/>
        </p:nvSpPr>
        <p:spPr>
          <a:xfrm>
            <a:off x="4662984" y="2246511"/>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5A43"/>
                </a:solidFill>
                <a:latin typeface="Plus Jakarta Sans" pitchFamily="34" charset="0"/>
                <a:ea typeface="Plus Jakarta Sans" pitchFamily="34" charset="-122"/>
                <a:cs typeface="Plus Jakarta Sans" pitchFamily="34" charset="-120"/>
              </a:rPr>
              <a:t>Shops</a:t>
            </a:r>
            <a:endParaRPr lang="en-US" sz="2000" dirty="0"/>
          </a:p>
        </p:txBody>
      </p:sp>
      <p:sp>
        <p:nvSpPr>
          <p:cNvPr id="9" name="Text 7"/>
          <p:cNvSpPr/>
          <p:nvPr/>
        </p:nvSpPr>
        <p:spPr>
          <a:xfrm>
            <a:off x="4662984" y="2627511"/>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751"/>
                </a:solidFill>
                <a:latin typeface="Plus Jakarta Sans" pitchFamily="34" charset="0"/>
                <a:ea typeface="Plus Jakarta Sans" pitchFamily="34" charset="-122"/>
                <a:cs typeface="Plus Jakarta Sans" pitchFamily="34" charset="-120"/>
              </a:rPr>
              <a:t>Post daily, get verified, grow with a plan.</a:t>
            </a:r>
            <a:endParaRPr lang="en-US" sz="1400" dirty="0"/>
          </a:p>
        </p:txBody>
      </p:sp>
      <p:sp>
        <p:nvSpPr>
          <p:cNvPr id="10" name="Shape 8"/>
          <p:cNvSpPr/>
          <p:nvPr/>
        </p:nvSpPr>
        <p:spPr>
          <a:xfrm>
            <a:off x="7995642" y="1989336"/>
            <a:ext cx="3380284" cy="1393031"/>
          </a:xfrm>
          <a:prstGeom prst="roundRect">
            <a:avLst>
              <a:gd name="adj" fmla="val 10712"/>
            </a:avLst>
          </a:prstGeom>
          <a:solidFill>
            <a:srgbClr val="FFFEFA"/>
          </a:solidFill>
          <a:ln w="6350">
            <a:solidFill>
              <a:srgbClr val="E2DED3"/>
            </a:solidFill>
            <a:prstDash val="solid"/>
          </a:ln>
        </p:spPr>
      </p:sp>
      <p:sp>
        <p:nvSpPr>
          <p:cNvPr id="11" name="Text 9"/>
          <p:cNvSpPr/>
          <p:nvPr/>
        </p:nvSpPr>
        <p:spPr>
          <a:xfrm>
            <a:off x="8252817" y="2246511"/>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5A43"/>
                </a:solidFill>
                <a:latin typeface="Plus Jakarta Sans" pitchFamily="34" charset="0"/>
                <a:ea typeface="Plus Jakarta Sans" pitchFamily="34" charset="-122"/>
                <a:cs typeface="Plus Jakarta Sans" pitchFamily="34" charset="-120"/>
              </a:rPr>
              <a:t>Individuals</a:t>
            </a:r>
            <a:endParaRPr lang="en-US" sz="2000" dirty="0"/>
          </a:p>
        </p:txBody>
      </p:sp>
      <p:sp>
        <p:nvSpPr>
          <p:cNvPr id="12" name="Text 10"/>
          <p:cNvSpPr/>
          <p:nvPr/>
        </p:nvSpPr>
        <p:spPr>
          <a:xfrm>
            <a:off x="8252817" y="2627511"/>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751"/>
                </a:solidFill>
                <a:latin typeface="Plus Jakarta Sans" pitchFamily="34" charset="0"/>
                <a:ea typeface="Plus Jakarta Sans" pitchFamily="34" charset="-122"/>
                <a:cs typeface="Plus Jakarta Sans" pitchFamily="34" charset="-120"/>
              </a:rPr>
              <a:t>Sell used items for free, a few a week.</a:t>
            </a:r>
            <a:endParaRPr lang="en-US" sz="1400" dirty="0"/>
          </a:p>
        </p:txBody>
      </p:sp>
      <p:sp>
        <p:nvSpPr>
          <p:cNvPr id="13" name="Shape 11"/>
          <p:cNvSpPr/>
          <p:nvPr/>
        </p:nvSpPr>
        <p:spPr>
          <a:xfrm>
            <a:off x="815975" y="3591917"/>
            <a:ext cx="3380284" cy="1393031"/>
          </a:xfrm>
          <a:prstGeom prst="roundRect">
            <a:avLst>
              <a:gd name="adj" fmla="val 10712"/>
            </a:avLst>
          </a:prstGeom>
          <a:solidFill>
            <a:srgbClr val="FFFEFA"/>
          </a:solidFill>
          <a:ln w="6350">
            <a:solidFill>
              <a:srgbClr val="E2DED3"/>
            </a:solidFill>
            <a:prstDash val="solid"/>
          </a:ln>
        </p:spPr>
      </p:sp>
      <p:sp>
        <p:nvSpPr>
          <p:cNvPr id="14" name="Text 12"/>
          <p:cNvSpPr/>
          <p:nvPr/>
        </p:nvSpPr>
        <p:spPr>
          <a:xfrm>
            <a:off x="1073150" y="3849092"/>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5A43"/>
                </a:solidFill>
                <a:latin typeface="Plus Jakarta Sans" pitchFamily="34" charset="0"/>
                <a:ea typeface="Plus Jakarta Sans" pitchFamily="34" charset="-122"/>
                <a:cs typeface="Plus Jakarta Sans" pitchFamily="34" charset="-120"/>
              </a:rPr>
              <a:t>Skilled workers</a:t>
            </a:r>
            <a:endParaRPr lang="en-US" sz="2000" dirty="0"/>
          </a:p>
        </p:txBody>
      </p:sp>
      <p:sp>
        <p:nvSpPr>
          <p:cNvPr id="15" name="Text 13"/>
          <p:cNvSpPr/>
          <p:nvPr/>
        </p:nvSpPr>
        <p:spPr>
          <a:xfrm>
            <a:off x="1073150" y="4230092"/>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751"/>
                </a:solidFill>
                <a:latin typeface="Plus Jakarta Sans" pitchFamily="34" charset="0"/>
                <a:ea typeface="Plus Jakarta Sans" pitchFamily="34" charset="-122"/>
                <a:cs typeface="Plus Jakarta Sans" pitchFamily="34" charset="-120"/>
              </a:rPr>
              <a:t>Show their work, send quotes, earn reviews.</a:t>
            </a:r>
            <a:endParaRPr lang="en-US" sz="1400" dirty="0"/>
          </a:p>
        </p:txBody>
      </p:sp>
      <p:sp>
        <p:nvSpPr>
          <p:cNvPr id="16" name="Shape 14"/>
          <p:cNvSpPr/>
          <p:nvPr/>
        </p:nvSpPr>
        <p:spPr>
          <a:xfrm>
            <a:off x="4405809" y="3591917"/>
            <a:ext cx="3380284" cy="1393031"/>
          </a:xfrm>
          <a:prstGeom prst="roundRect">
            <a:avLst>
              <a:gd name="adj" fmla="val 10712"/>
            </a:avLst>
          </a:prstGeom>
          <a:solidFill>
            <a:srgbClr val="FFFEFA"/>
          </a:solidFill>
          <a:ln w="6350">
            <a:solidFill>
              <a:srgbClr val="E2DED3"/>
            </a:solidFill>
            <a:prstDash val="solid"/>
          </a:ln>
        </p:spPr>
      </p:sp>
      <p:sp>
        <p:nvSpPr>
          <p:cNvPr id="17" name="Text 15"/>
          <p:cNvSpPr/>
          <p:nvPr/>
        </p:nvSpPr>
        <p:spPr>
          <a:xfrm>
            <a:off x="4662984" y="3849092"/>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5A43"/>
                </a:solidFill>
                <a:latin typeface="Plus Jakarta Sans" pitchFamily="34" charset="0"/>
                <a:ea typeface="Plus Jakarta Sans" pitchFamily="34" charset="-122"/>
                <a:cs typeface="Plus Jakarta Sans" pitchFamily="34" charset="-120"/>
              </a:rPr>
              <a:t>Riders</a:t>
            </a:r>
            <a:endParaRPr lang="en-US" sz="2000" dirty="0"/>
          </a:p>
        </p:txBody>
      </p:sp>
      <p:sp>
        <p:nvSpPr>
          <p:cNvPr id="18" name="Text 16"/>
          <p:cNvSpPr/>
          <p:nvPr/>
        </p:nvSpPr>
        <p:spPr>
          <a:xfrm>
            <a:off x="4662984" y="4230092"/>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751"/>
                </a:solidFill>
                <a:latin typeface="Plus Jakarta Sans" pitchFamily="34" charset="0"/>
                <a:ea typeface="Plus Jakarta Sans" pitchFamily="34" charset="-122"/>
                <a:cs typeface="Plus Jakarta Sans" pitchFamily="34" charset="-120"/>
              </a:rPr>
              <a:t>Deliver orders across town by bajaj or motorbike.</a:t>
            </a:r>
            <a:endParaRPr lang="en-US" sz="1400" dirty="0"/>
          </a:p>
        </p:txBody>
      </p:sp>
      <p:sp>
        <p:nvSpPr>
          <p:cNvPr id="19" name="Shape 17"/>
          <p:cNvSpPr/>
          <p:nvPr/>
        </p:nvSpPr>
        <p:spPr>
          <a:xfrm>
            <a:off x="7995642" y="3591917"/>
            <a:ext cx="3380284" cy="1393031"/>
          </a:xfrm>
          <a:prstGeom prst="roundRect">
            <a:avLst>
              <a:gd name="adj" fmla="val 10712"/>
            </a:avLst>
          </a:prstGeom>
          <a:solidFill>
            <a:srgbClr val="FFFEFA"/>
          </a:solidFill>
          <a:ln w="6350">
            <a:solidFill>
              <a:srgbClr val="E2DED3"/>
            </a:solidFill>
            <a:prstDash val="solid"/>
          </a:ln>
        </p:spPr>
      </p:sp>
      <p:sp>
        <p:nvSpPr>
          <p:cNvPr id="20" name="Text 18"/>
          <p:cNvSpPr/>
          <p:nvPr/>
        </p:nvSpPr>
        <p:spPr>
          <a:xfrm>
            <a:off x="8252817" y="3849092"/>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5A43"/>
                </a:solidFill>
                <a:latin typeface="Plus Jakarta Sans" pitchFamily="34" charset="0"/>
                <a:ea typeface="Plus Jakarta Sans" pitchFamily="34" charset="-122"/>
                <a:cs typeface="Plus Jakarta Sans" pitchFamily="34" charset="-120"/>
              </a:rPr>
              <a:t>Students</a:t>
            </a:r>
            <a:endParaRPr lang="en-US" sz="2000" dirty="0"/>
          </a:p>
        </p:txBody>
      </p:sp>
      <p:sp>
        <p:nvSpPr>
          <p:cNvPr id="21" name="Text 19"/>
          <p:cNvSpPr/>
          <p:nvPr/>
        </p:nvSpPr>
        <p:spPr>
          <a:xfrm>
            <a:off x="8252817" y="4230092"/>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751"/>
                </a:solidFill>
                <a:latin typeface="Plus Jakarta Sans" pitchFamily="34" charset="0"/>
                <a:ea typeface="Plus Jakarta Sans" pitchFamily="34" charset="-122"/>
                <a:cs typeface="Plus Jakarta Sans" pitchFamily="34" charset="-120"/>
              </a:rPr>
              <a:t>Build a free profile and CV, apply in one tap.</a:t>
            </a:r>
            <a:endParaRPr lang="en-US" sz="14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36C"/>
                </a:solidFill>
                <a:latin typeface="Plus Jakarta Sans" pitchFamily="34" charset="0"/>
                <a:ea typeface="Plus Jakarta Sans" pitchFamily="34" charset="-122"/>
                <a:cs typeface="Plus Jakarta Sans" pitchFamily="34" charset="-120"/>
              </a:rPr>
              <a:t>Sodo Gebeya · System overview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590F"/>
                </a:solidFill>
                <a:latin typeface="Plus Jakarta Sans" pitchFamily="34" charset="0"/>
                <a:ea typeface="Plus Jakarta Sans" pitchFamily="34" charset="-122"/>
                <a:cs typeface="Plus Jakarta Sans" pitchFamily="34" charset="-120"/>
              </a:rPr>
              <a:t>HOW BUYING WORKS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3201A"/>
                </a:solidFill>
                <a:latin typeface="Plus Jakarta Sans" pitchFamily="34" charset="0"/>
                <a:ea typeface="Plus Jakarta Sans" pitchFamily="34" charset="-122"/>
                <a:cs typeface="Plus Jakarta Sans" pitchFamily="34" charset="-120"/>
              </a:rPr>
              <a:t>From search to safe delivery</a:t>
            </a:r>
            <a:endParaRPr lang="en-US" sz="3600" dirty="0"/>
          </a:p>
        </p:txBody>
      </p:sp>
      <p:sp>
        <p:nvSpPr>
          <p:cNvPr id="4" name="Shape 2"/>
          <p:cNvSpPr/>
          <p:nvPr/>
        </p:nvSpPr>
        <p:spPr>
          <a:xfrm>
            <a:off x="815975" y="1989336"/>
            <a:ext cx="1987550" cy="1946672"/>
          </a:xfrm>
          <a:prstGeom prst="roundRect">
            <a:avLst>
              <a:gd name="adj" fmla="val 7666"/>
            </a:avLst>
          </a:prstGeom>
          <a:solidFill>
            <a:srgbClr val="FFFEFA"/>
          </a:solidFill>
          <a:ln w="6350">
            <a:solidFill>
              <a:srgbClr val="E2DED3"/>
            </a:solidFill>
            <a:prstDash val="solid"/>
          </a:ln>
        </p:spPr>
      </p:sp>
      <p:sp>
        <p:nvSpPr>
          <p:cNvPr id="5" name="Text 3"/>
          <p:cNvSpPr/>
          <p:nvPr/>
        </p:nvSpPr>
        <p:spPr>
          <a:xfrm>
            <a:off x="1022350" y="2195711"/>
            <a:ext cx="16256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95590F"/>
                </a:solidFill>
                <a:latin typeface="Plus Jakarta Sans" pitchFamily="34" charset="0"/>
                <a:ea typeface="Plus Jakarta Sans" pitchFamily="34" charset="-122"/>
                <a:cs typeface="Plus Jakarta Sans" pitchFamily="34" charset="-120"/>
              </a:rPr>
              <a:t>01</a:t>
            </a:r>
            <a:endParaRPr lang="en-US" sz="2800" dirty="0"/>
          </a:p>
        </p:txBody>
      </p:sp>
      <p:sp>
        <p:nvSpPr>
          <p:cNvPr id="6" name="Text 4"/>
          <p:cNvSpPr/>
          <p:nvPr/>
        </p:nvSpPr>
        <p:spPr>
          <a:xfrm>
            <a:off x="1022350" y="276969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1A"/>
                </a:solidFill>
                <a:latin typeface="Plus Jakarta Sans" pitchFamily="34" charset="0"/>
                <a:ea typeface="Plus Jakarta Sans" pitchFamily="34" charset="-122"/>
                <a:cs typeface="Plus Jakarta Sans" pitchFamily="34" charset="-120"/>
              </a:rPr>
              <a:t>Find</a:t>
            </a:r>
            <a:endParaRPr lang="en-US" sz="1600" dirty="0"/>
          </a:p>
        </p:txBody>
      </p:sp>
      <p:sp>
        <p:nvSpPr>
          <p:cNvPr id="7" name="Text 5"/>
          <p:cNvSpPr/>
          <p:nvPr/>
        </p:nvSpPr>
        <p:spPr>
          <a:xfrm>
            <a:off x="1022350" y="3089672"/>
            <a:ext cx="16256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751"/>
                </a:solidFill>
                <a:latin typeface="Plus Jakarta Sans" pitchFamily="34" charset="0"/>
                <a:ea typeface="Plus Jakarta Sans" pitchFamily="34" charset="-122"/>
                <a:cs typeface="Plus Jakarta Sans" pitchFamily="34" charset="-120"/>
              </a:rPr>
              <a:t>Search by category, price and area of Sodo.</a:t>
            </a:r>
            <a:endParaRPr lang="en-US" sz="1200" dirty="0"/>
          </a:p>
        </p:txBody>
      </p:sp>
      <p:sp>
        <p:nvSpPr>
          <p:cNvPr id="8" name="Shape 6"/>
          <p:cNvSpPr/>
          <p:nvPr/>
        </p:nvSpPr>
        <p:spPr>
          <a:xfrm>
            <a:off x="2962275" y="1989336"/>
            <a:ext cx="1987550" cy="1946672"/>
          </a:xfrm>
          <a:prstGeom prst="roundRect">
            <a:avLst>
              <a:gd name="adj" fmla="val 7666"/>
            </a:avLst>
          </a:prstGeom>
          <a:solidFill>
            <a:srgbClr val="FFFEFA"/>
          </a:solidFill>
          <a:ln w="6350">
            <a:solidFill>
              <a:srgbClr val="E2DED3"/>
            </a:solidFill>
            <a:prstDash val="solid"/>
          </a:ln>
        </p:spPr>
      </p:sp>
      <p:sp>
        <p:nvSpPr>
          <p:cNvPr id="9" name="Text 7"/>
          <p:cNvSpPr/>
          <p:nvPr/>
        </p:nvSpPr>
        <p:spPr>
          <a:xfrm>
            <a:off x="3168650" y="2195711"/>
            <a:ext cx="16256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95590F"/>
                </a:solidFill>
                <a:latin typeface="Plus Jakarta Sans" pitchFamily="34" charset="0"/>
                <a:ea typeface="Plus Jakarta Sans" pitchFamily="34" charset="-122"/>
                <a:cs typeface="Plus Jakarta Sans" pitchFamily="34" charset="-120"/>
              </a:rPr>
              <a:t>02</a:t>
            </a:r>
            <a:endParaRPr lang="en-US" sz="2800" dirty="0"/>
          </a:p>
        </p:txBody>
      </p:sp>
      <p:sp>
        <p:nvSpPr>
          <p:cNvPr id="10" name="Text 8"/>
          <p:cNvSpPr/>
          <p:nvPr/>
        </p:nvSpPr>
        <p:spPr>
          <a:xfrm>
            <a:off x="3168650" y="276969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1A"/>
                </a:solidFill>
                <a:latin typeface="Plus Jakarta Sans" pitchFamily="34" charset="0"/>
                <a:ea typeface="Plus Jakarta Sans" pitchFamily="34" charset="-122"/>
                <a:cs typeface="Plus Jakarta Sans" pitchFamily="34" charset="-120"/>
              </a:rPr>
              <a:t>Chat</a:t>
            </a:r>
            <a:endParaRPr lang="en-US" sz="1600" dirty="0"/>
          </a:p>
        </p:txBody>
      </p:sp>
      <p:sp>
        <p:nvSpPr>
          <p:cNvPr id="11" name="Text 9"/>
          <p:cNvSpPr/>
          <p:nvPr/>
        </p:nvSpPr>
        <p:spPr>
          <a:xfrm>
            <a:off x="3168650" y="3089672"/>
            <a:ext cx="16256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751"/>
                </a:solidFill>
                <a:latin typeface="Plus Jakarta Sans" pitchFamily="34" charset="0"/>
                <a:ea typeface="Plus Jakarta Sans" pitchFamily="34" charset="-122"/>
                <a:cs typeface="Plus Jakarta Sans" pitchFamily="34" charset="-120"/>
              </a:rPr>
              <a:t>Ask questions, send voice notes, make an offer.</a:t>
            </a:r>
            <a:endParaRPr lang="en-US" sz="1200" dirty="0"/>
          </a:p>
        </p:txBody>
      </p:sp>
      <p:sp>
        <p:nvSpPr>
          <p:cNvPr id="12" name="Shape 10"/>
          <p:cNvSpPr/>
          <p:nvPr/>
        </p:nvSpPr>
        <p:spPr>
          <a:xfrm>
            <a:off x="5108575" y="1989336"/>
            <a:ext cx="1987550" cy="1946672"/>
          </a:xfrm>
          <a:prstGeom prst="roundRect">
            <a:avLst>
              <a:gd name="adj" fmla="val 7666"/>
            </a:avLst>
          </a:prstGeom>
          <a:solidFill>
            <a:srgbClr val="FFFEFA"/>
          </a:solidFill>
          <a:ln w="6350">
            <a:solidFill>
              <a:srgbClr val="E2DED3"/>
            </a:solidFill>
            <a:prstDash val="solid"/>
          </a:ln>
        </p:spPr>
      </p:sp>
      <p:sp>
        <p:nvSpPr>
          <p:cNvPr id="13" name="Text 11"/>
          <p:cNvSpPr/>
          <p:nvPr/>
        </p:nvSpPr>
        <p:spPr>
          <a:xfrm>
            <a:off x="5314950" y="2195711"/>
            <a:ext cx="16256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95590F"/>
                </a:solidFill>
                <a:latin typeface="Plus Jakarta Sans" pitchFamily="34" charset="0"/>
                <a:ea typeface="Plus Jakarta Sans" pitchFamily="34" charset="-122"/>
                <a:cs typeface="Plus Jakarta Sans" pitchFamily="34" charset="-120"/>
              </a:rPr>
              <a:t>03</a:t>
            </a:r>
            <a:endParaRPr lang="en-US" sz="2800" dirty="0"/>
          </a:p>
        </p:txBody>
      </p:sp>
      <p:sp>
        <p:nvSpPr>
          <p:cNvPr id="14" name="Text 12"/>
          <p:cNvSpPr/>
          <p:nvPr/>
        </p:nvSpPr>
        <p:spPr>
          <a:xfrm>
            <a:off x="5314950" y="276969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1A"/>
                </a:solidFill>
                <a:latin typeface="Plus Jakarta Sans" pitchFamily="34" charset="0"/>
                <a:ea typeface="Plus Jakarta Sans" pitchFamily="34" charset="-122"/>
                <a:cs typeface="Plus Jakarta Sans" pitchFamily="34" charset="-120"/>
              </a:rPr>
              <a:t>Pay safely</a:t>
            </a:r>
            <a:endParaRPr lang="en-US" sz="1600" dirty="0"/>
          </a:p>
        </p:txBody>
      </p:sp>
      <p:sp>
        <p:nvSpPr>
          <p:cNvPr id="15" name="Text 13"/>
          <p:cNvSpPr/>
          <p:nvPr/>
        </p:nvSpPr>
        <p:spPr>
          <a:xfrm>
            <a:off x="5314950" y="3089672"/>
            <a:ext cx="16256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751"/>
                </a:solidFill>
                <a:latin typeface="Plus Jakarta Sans" pitchFamily="34" charset="0"/>
                <a:ea typeface="Plus Jakarta Sans" pitchFamily="34" charset="-122"/>
                <a:cs typeface="Plus Jakarta Sans" pitchFamily="34" charset="-120"/>
              </a:rPr>
              <a:t>Money is held until the item arrives, or pay cash on pickup.</a:t>
            </a:r>
            <a:endParaRPr lang="en-US" sz="1200" dirty="0"/>
          </a:p>
        </p:txBody>
      </p:sp>
      <p:sp>
        <p:nvSpPr>
          <p:cNvPr id="16" name="Shape 14"/>
          <p:cNvSpPr/>
          <p:nvPr/>
        </p:nvSpPr>
        <p:spPr>
          <a:xfrm>
            <a:off x="7254875" y="1989336"/>
            <a:ext cx="1987550" cy="1946672"/>
          </a:xfrm>
          <a:prstGeom prst="roundRect">
            <a:avLst>
              <a:gd name="adj" fmla="val 7666"/>
            </a:avLst>
          </a:prstGeom>
          <a:solidFill>
            <a:srgbClr val="FFFEFA"/>
          </a:solidFill>
          <a:ln w="6350">
            <a:solidFill>
              <a:srgbClr val="E2DED3"/>
            </a:solidFill>
            <a:prstDash val="solid"/>
          </a:ln>
        </p:spPr>
      </p:sp>
      <p:sp>
        <p:nvSpPr>
          <p:cNvPr id="17" name="Text 15"/>
          <p:cNvSpPr/>
          <p:nvPr/>
        </p:nvSpPr>
        <p:spPr>
          <a:xfrm>
            <a:off x="7461250" y="2195711"/>
            <a:ext cx="16256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95590F"/>
                </a:solidFill>
                <a:latin typeface="Plus Jakarta Sans" pitchFamily="34" charset="0"/>
                <a:ea typeface="Plus Jakarta Sans" pitchFamily="34" charset="-122"/>
                <a:cs typeface="Plus Jakarta Sans" pitchFamily="34" charset="-120"/>
              </a:rPr>
              <a:t>04</a:t>
            </a:r>
            <a:endParaRPr lang="en-US" sz="2800" dirty="0"/>
          </a:p>
        </p:txBody>
      </p:sp>
      <p:sp>
        <p:nvSpPr>
          <p:cNvPr id="18" name="Text 16"/>
          <p:cNvSpPr/>
          <p:nvPr/>
        </p:nvSpPr>
        <p:spPr>
          <a:xfrm>
            <a:off x="7461250" y="276969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1A"/>
                </a:solidFill>
                <a:latin typeface="Plus Jakarta Sans" pitchFamily="34" charset="0"/>
                <a:ea typeface="Plus Jakarta Sans" pitchFamily="34" charset="-122"/>
                <a:cs typeface="Plus Jakarta Sans" pitchFamily="34" charset="-120"/>
              </a:rPr>
              <a:t>Get it</a:t>
            </a:r>
            <a:endParaRPr lang="en-US" sz="1600" dirty="0"/>
          </a:p>
        </p:txBody>
      </p:sp>
      <p:sp>
        <p:nvSpPr>
          <p:cNvPr id="19" name="Text 17"/>
          <p:cNvSpPr/>
          <p:nvPr/>
        </p:nvSpPr>
        <p:spPr>
          <a:xfrm>
            <a:off x="7461250" y="3089672"/>
            <a:ext cx="16256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751"/>
                </a:solidFill>
                <a:latin typeface="Plus Jakarta Sans" pitchFamily="34" charset="0"/>
                <a:ea typeface="Plus Jakarta Sans" pitchFamily="34" charset="-122"/>
                <a:cs typeface="Plus Jakarta Sans" pitchFamily="34" charset="-120"/>
              </a:rPr>
              <a:t>Meet the seller, or a local rider brings it.</a:t>
            </a:r>
            <a:endParaRPr lang="en-US" sz="1200" dirty="0"/>
          </a:p>
        </p:txBody>
      </p:sp>
      <p:sp>
        <p:nvSpPr>
          <p:cNvPr id="20" name="Shape 18"/>
          <p:cNvSpPr/>
          <p:nvPr/>
        </p:nvSpPr>
        <p:spPr>
          <a:xfrm>
            <a:off x="9398000" y="1986161"/>
            <a:ext cx="1981200" cy="1953022"/>
          </a:xfrm>
          <a:prstGeom prst="roundRect">
            <a:avLst>
              <a:gd name="adj" fmla="val 7803"/>
            </a:avLst>
          </a:prstGeom>
          <a:solidFill>
            <a:srgbClr val="0E5A43"/>
          </a:solidFill>
          <a:ln/>
        </p:spPr>
      </p:sp>
      <p:sp>
        <p:nvSpPr>
          <p:cNvPr id="21" name="Text 19"/>
          <p:cNvSpPr/>
          <p:nvPr/>
        </p:nvSpPr>
        <p:spPr>
          <a:xfrm>
            <a:off x="9601200" y="2189361"/>
            <a:ext cx="16256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39B2D"/>
                </a:solidFill>
                <a:latin typeface="Plus Jakarta Sans" pitchFamily="34" charset="0"/>
                <a:ea typeface="Plus Jakarta Sans" pitchFamily="34" charset="-122"/>
                <a:cs typeface="Plus Jakarta Sans" pitchFamily="34" charset="-120"/>
              </a:rPr>
              <a:t>05</a:t>
            </a:r>
            <a:endParaRPr lang="en-US" sz="2800" dirty="0"/>
          </a:p>
        </p:txBody>
      </p:sp>
      <p:sp>
        <p:nvSpPr>
          <p:cNvPr id="22" name="Text 20"/>
          <p:cNvSpPr/>
          <p:nvPr/>
        </p:nvSpPr>
        <p:spPr>
          <a:xfrm>
            <a:off x="9601200" y="276334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Plus Jakarta Sans" pitchFamily="34" charset="0"/>
                <a:ea typeface="Plus Jakarta Sans" pitchFamily="34" charset="-122"/>
                <a:cs typeface="Plus Jakarta Sans" pitchFamily="34" charset="-120"/>
              </a:rPr>
              <a:t>Confirm</a:t>
            </a:r>
            <a:endParaRPr lang="en-US" sz="1600" dirty="0"/>
          </a:p>
        </p:txBody>
      </p:sp>
      <p:sp>
        <p:nvSpPr>
          <p:cNvPr id="23" name="Text 21"/>
          <p:cNvSpPr/>
          <p:nvPr/>
        </p:nvSpPr>
        <p:spPr>
          <a:xfrm>
            <a:off x="9601200" y="3083322"/>
            <a:ext cx="16256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E3D9"/>
                </a:solidFill>
                <a:latin typeface="Plus Jakarta Sans" pitchFamily="34" charset="0"/>
                <a:ea typeface="Plus Jakarta Sans" pitchFamily="34" charset="-122"/>
                <a:cs typeface="Plus Jakarta Sans" pitchFamily="34" charset="-120"/>
              </a:rPr>
              <a:t>Money goes to the seller. The buyer leaves a review.</a:t>
            </a:r>
            <a:endParaRPr lang="en-US" sz="1200" dirty="0"/>
          </a:p>
        </p:txBody>
      </p:sp>
      <p:sp>
        <p:nvSpPr>
          <p:cNvPr id="24" name="Shape 22"/>
          <p:cNvSpPr/>
          <p:nvPr/>
        </p:nvSpPr>
        <p:spPr>
          <a:xfrm>
            <a:off x="812800" y="4294783"/>
            <a:ext cx="10566400" cy="711200"/>
          </a:xfrm>
          <a:prstGeom prst="roundRect">
            <a:avLst>
              <a:gd name="adj" fmla="val 17857"/>
            </a:avLst>
          </a:prstGeom>
          <a:solidFill>
            <a:srgbClr val="E8F0EC"/>
          </a:solidFill>
          <a:ln/>
        </p:spPr>
      </p:sp>
      <p:pic>
        <p:nvPicPr>
          <p:cNvPr id="25" name="Image 0" descr="Lock">    </p:cNvPr>
          <p:cNvPicPr>
            <a:picLocks noChangeAspect="1"/>
          </p:cNvPicPr>
          <p:nvPr/>
        </p:nvPicPr>
        <p:blipFill>
          <a:blip r:embed="rId1"/>
          <a:srcRect l="0" r="0" t="0" b="0"/>
          <a:stretch/>
        </p:blipFill>
        <p:spPr>
          <a:xfrm>
            <a:off x="1066800" y="4497983"/>
            <a:ext cx="304800" cy="304800"/>
          </a:xfrm>
          <a:prstGeom prst="rect">
            <a:avLst/>
          </a:prstGeom>
        </p:spPr>
      </p:pic>
      <p:sp>
        <p:nvSpPr>
          <p:cNvPr id="26" name="Text 23"/>
          <p:cNvSpPr/>
          <p:nvPr/>
        </p:nvSpPr>
        <p:spPr>
          <a:xfrm>
            <a:off x="1524000" y="4525963"/>
            <a:ext cx="752915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1A"/>
                </a:solidFill>
                <a:latin typeface="Plus Jakarta Sans" pitchFamily="34" charset="0"/>
                <a:ea typeface="Plus Jakarta Sans" pitchFamily="34" charset="-122"/>
                <a:cs typeface="Plus Jakarta Sans" pitchFamily="34" charset="-120"/>
              </a:rPr>
              <a:t>Why it matters:</a:t>
            </a:r>
            <a:r>
              <a:rPr lang="en-US" sz="1400" dirty="0">
                <a:solidFill>
                  <a:srgbClr val="13201A"/>
                </a:solidFill>
                <a:latin typeface="Plus Jakarta Sans" pitchFamily="34" charset="0"/>
                <a:ea typeface="Plus Jakarta Sans" pitchFamily="34" charset="-122"/>
                <a:cs typeface="Plus Jakarta Sans" pitchFamily="34" charset="-120"/>
              </a:rPr>
              <a:t> the buyer never loses money to a seller who doesn’t deliver.</a:t>
            </a:r>
            <a:endParaRPr lang="en-US" sz="1400" dirty="0"/>
          </a:p>
        </p:txBody>
      </p:sp>
      <p:sp>
        <p:nvSpPr>
          <p:cNvPr id="27"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36C"/>
                </a:solidFill>
                <a:latin typeface="Plus Jakarta Sans" pitchFamily="34" charset="0"/>
                <a:ea typeface="Plus Jakarta Sans" pitchFamily="34" charset="-122"/>
                <a:cs typeface="Plus Jakarta Sans" pitchFamily="34" charset="-120"/>
              </a:rPr>
              <a:t>Sodo Gebeya · System overview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590F"/>
                </a:solidFill>
                <a:latin typeface="Plus Jakarta Sans" pitchFamily="34" charset="0"/>
                <a:ea typeface="Plus Jakarta Sans" pitchFamily="34" charset="-122"/>
                <a:cs typeface="Plus Jakarta Sans" pitchFamily="34" charset="-120"/>
              </a:rPr>
              <a:t>HOW HIRING WORKS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3201A"/>
                </a:solidFill>
                <a:latin typeface="Plus Jakarta Sans" pitchFamily="34" charset="0"/>
                <a:ea typeface="Plus Jakarta Sans" pitchFamily="34" charset="-122"/>
                <a:cs typeface="Plus Jakarta Sans" pitchFamily="34" charset="-120"/>
              </a:rPr>
              <a:t>Find the right worker, fast</a:t>
            </a:r>
            <a:endParaRPr lang="en-US" sz="3600" dirty="0"/>
          </a:p>
        </p:txBody>
      </p:sp>
      <p:sp>
        <p:nvSpPr>
          <p:cNvPr id="4" name="Shape 2"/>
          <p:cNvSpPr/>
          <p:nvPr/>
        </p:nvSpPr>
        <p:spPr>
          <a:xfrm>
            <a:off x="815975" y="1989336"/>
            <a:ext cx="1987550" cy="1946672"/>
          </a:xfrm>
          <a:prstGeom prst="roundRect">
            <a:avLst>
              <a:gd name="adj" fmla="val 7666"/>
            </a:avLst>
          </a:prstGeom>
          <a:solidFill>
            <a:srgbClr val="FFFEFA"/>
          </a:solidFill>
          <a:ln w="6350">
            <a:solidFill>
              <a:srgbClr val="E2DED3"/>
            </a:solidFill>
            <a:prstDash val="solid"/>
          </a:ln>
        </p:spPr>
      </p:sp>
      <p:sp>
        <p:nvSpPr>
          <p:cNvPr id="5" name="Text 3"/>
          <p:cNvSpPr/>
          <p:nvPr/>
        </p:nvSpPr>
        <p:spPr>
          <a:xfrm>
            <a:off x="1022350" y="2195711"/>
            <a:ext cx="16256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95590F"/>
                </a:solidFill>
                <a:latin typeface="Plus Jakarta Sans" pitchFamily="34" charset="0"/>
                <a:ea typeface="Plus Jakarta Sans" pitchFamily="34" charset="-122"/>
                <a:cs typeface="Plus Jakarta Sans" pitchFamily="34" charset="-120"/>
              </a:rPr>
              <a:t>01</a:t>
            </a:r>
            <a:endParaRPr lang="en-US" sz="2800" dirty="0"/>
          </a:p>
        </p:txBody>
      </p:sp>
      <p:sp>
        <p:nvSpPr>
          <p:cNvPr id="6" name="Text 4"/>
          <p:cNvSpPr/>
          <p:nvPr/>
        </p:nvSpPr>
        <p:spPr>
          <a:xfrm>
            <a:off x="1022350" y="276969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1A"/>
                </a:solidFill>
                <a:latin typeface="Plus Jakarta Sans" pitchFamily="34" charset="0"/>
                <a:ea typeface="Plus Jakarta Sans" pitchFamily="34" charset="-122"/>
                <a:cs typeface="Plus Jakarta Sans" pitchFamily="34" charset="-120"/>
              </a:rPr>
              <a:t>Post the job</a:t>
            </a:r>
            <a:endParaRPr lang="en-US" sz="1600" dirty="0"/>
          </a:p>
        </p:txBody>
      </p:sp>
      <p:sp>
        <p:nvSpPr>
          <p:cNvPr id="7" name="Text 5"/>
          <p:cNvSpPr/>
          <p:nvPr/>
        </p:nvSpPr>
        <p:spPr>
          <a:xfrm>
            <a:off x="1022350" y="3089672"/>
            <a:ext cx="16256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751"/>
                </a:solidFill>
                <a:latin typeface="Plus Jakarta Sans" pitchFamily="34" charset="0"/>
                <a:ea typeface="Plus Jakarta Sans" pitchFamily="34" charset="-122"/>
                <a:cs typeface="Plus Jakarta Sans" pitchFamily="34" charset="-120"/>
              </a:rPr>
              <a:t>Describe the work and add a photo.</a:t>
            </a:r>
            <a:endParaRPr lang="en-US" sz="1200" dirty="0"/>
          </a:p>
        </p:txBody>
      </p:sp>
      <p:sp>
        <p:nvSpPr>
          <p:cNvPr id="8" name="Shape 6"/>
          <p:cNvSpPr/>
          <p:nvPr/>
        </p:nvSpPr>
        <p:spPr>
          <a:xfrm>
            <a:off x="2962275" y="1989336"/>
            <a:ext cx="1987550" cy="1946672"/>
          </a:xfrm>
          <a:prstGeom prst="roundRect">
            <a:avLst>
              <a:gd name="adj" fmla="val 7666"/>
            </a:avLst>
          </a:prstGeom>
          <a:solidFill>
            <a:srgbClr val="FFFEFA"/>
          </a:solidFill>
          <a:ln w="6350">
            <a:solidFill>
              <a:srgbClr val="E2DED3"/>
            </a:solidFill>
            <a:prstDash val="solid"/>
          </a:ln>
        </p:spPr>
      </p:sp>
      <p:sp>
        <p:nvSpPr>
          <p:cNvPr id="9" name="Text 7"/>
          <p:cNvSpPr/>
          <p:nvPr/>
        </p:nvSpPr>
        <p:spPr>
          <a:xfrm>
            <a:off x="3168650" y="2195711"/>
            <a:ext cx="16256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95590F"/>
                </a:solidFill>
                <a:latin typeface="Plus Jakarta Sans" pitchFamily="34" charset="0"/>
                <a:ea typeface="Plus Jakarta Sans" pitchFamily="34" charset="-122"/>
                <a:cs typeface="Plus Jakarta Sans" pitchFamily="34" charset="-120"/>
              </a:rPr>
              <a:t>02</a:t>
            </a:r>
            <a:endParaRPr lang="en-US" sz="2800" dirty="0"/>
          </a:p>
        </p:txBody>
      </p:sp>
      <p:sp>
        <p:nvSpPr>
          <p:cNvPr id="10" name="Text 8"/>
          <p:cNvSpPr/>
          <p:nvPr/>
        </p:nvSpPr>
        <p:spPr>
          <a:xfrm>
            <a:off x="3168650" y="276969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1A"/>
                </a:solidFill>
                <a:latin typeface="Plus Jakarta Sans" pitchFamily="34" charset="0"/>
                <a:ea typeface="Plus Jakarta Sans" pitchFamily="34" charset="-122"/>
                <a:cs typeface="Plus Jakarta Sans" pitchFamily="34" charset="-120"/>
              </a:rPr>
              <a:t>Get quotes</a:t>
            </a:r>
            <a:endParaRPr lang="en-US" sz="1600" dirty="0"/>
          </a:p>
        </p:txBody>
      </p:sp>
      <p:sp>
        <p:nvSpPr>
          <p:cNvPr id="11" name="Text 9"/>
          <p:cNvSpPr/>
          <p:nvPr/>
        </p:nvSpPr>
        <p:spPr>
          <a:xfrm>
            <a:off x="3168650" y="3089672"/>
            <a:ext cx="16256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751"/>
                </a:solidFill>
                <a:latin typeface="Plus Jakarta Sans" pitchFamily="34" charset="0"/>
                <a:ea typeface="Plus Jakarta Sans" pitchFamily="34" charset="-122"/>
                <a:cs typeface="Plus Jakarta Sans" pitchFamily="34" charset="-120"/>
              </a:rPr>
              <a:t>Nearby workers reply with a price.</a:t>
            </a:r>
            <a:endParaRPr lang="en-US" sz="1200" dirty="0"/>
          </a:p>
        </p:txBody>
      </p:sp>
      <p:sp>
        <p:nvSpPr>
          <p:cNvPr id="12" name="Shape 10"/>
          <p:cNvSpPr/>
          <p:nvPr/>
        </p:nvSpPr>
        <p:spPr>
          <a:xfrm>
            <a:off x="5108575" y="1989336"/>
            <a:ext cx="1987550" cy="1946672"/>
          </a:xfrm>
          <a:prstGeom prst="roundRect">
            <a:avLst>
              <a:gd name="adj" fmla="val 7666"/>
            </a:avLst>
          </a:prstGeom>
          <a:solidFill>
            <a:srgbClr val="FFFEFA"/>
          </a:solidFill>
          <a:ln w="6350">
            <a:solidFill>
              <a:srgbClr val="E2DED3"/>
            </a:solidFill>
            <a:prstDash val="solid"/>
          </a:ln>
        </p:spPr>
      </p:sp>
      <p:sp>
        <p:nvSpPr>
          <p:cNvPr id="13" name="Text 11"/>
          <p:cNvSpPr/>
          <p:nvPr/>
        </p:nvSpPr>
        <p:spPr>
          <a:xfrm>
            <a:off x="5314950" y="2195711"/>
            <a:ext cx="16256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95590F"/>
                </a:solidFill>
                <a:latin typeface="Plus Jakarta Sans" pitchFamily="34" charset="0"/>
                <a:ea typeface="Plus Jakarta Sans" pitchFamily="34" charset="-122"/>
                <a:cs typeface="Plus Jakarta Sans" pitchFamily="34" charset="-120"/>
              </a:rPr>
              <a:t>03</a:t>
            </a:r>
            <a:endParaRPr lang="en-US" sz="2800" dirty="0"/>
          </a:p>
        </p:txBody>
      </p:sp>
      <p:sp>
        <p:nvSpPr>
          <p:cNvPr id="14" name="Text 12"/>
          <p:cNvSpPr/>
          <p:nvPr/>
        </p:nvSpPr>
        <p:spPr>
          <a:xfrm>
            <a:off x="5314950" y="276969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1A"/>
                </a:solidFill>
                <a:latin typeface="Plus Jakarta Sans" pitchFamily="34" charset="0"/>
                <a:ea typeface="Plus Jakarta Sans" pitchFamily="34" charset="-122"/>
                <a:cs typeface="Plus Jakarta Sans" pitchFamily="34" charset="-120"/>
              </a:rPr>
              <a:t>Choose</a:t>
            </a:r>
            <a:endParaRPr lang="en-US" sz="1600" dirty="0"/>
          </a:p>
        </p:txBody>
      </p:sp>
      <p:sp>
        <p:nvSpPr>
          <p:cNvPr id="15" name="Text 13"/>
          <p:cNvSpPr/>
          <p:nvPr/>
        </p:nvSpPr>
        <p:spPr>
          <a:xfrm>
            <a:off x="5314950" y="3089672"/>
            <a:ext cx="16256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751"/>
                </a:solidFill>
                <a:latin typeface="Plus Jakarta Sans" pitchFamily="34" charset="0"/>
                <a:ea typeface="Plus Jakarta Sans" pitchFamily="34" charset="-122"/>
                <a:cs typeface="Plus Jakarta Sans" pitchFamily="34" charset="-120"/>
              </a:rPr>
              <a:t>Compare ratings, past work and badges.</a:t>
            </a:r>
            <a:endParaRPr lang="en-US" sz="1200" dirty="0"/>
          </a:p>
        </p:txBody>
      </p:sp>
      <p:sp>
        <p:nvSpPr>
          <p:cNvPr id="16" name="Shape 14"/>
          <p:cNvSpPr/>
          <p:nvPr/>
        </p:nvSpPr>
        <p:spPr>
          <a:xfrm>
            <a:off x="7254875" y="1989336"/>
            <a:ext cx="1987550" cy="1946672"/>
          </a:xfrm>
          <a:prstGeom prst="roundRect">
            <a:avLst>
              <a:gd name="adj" fmla="val 7666"/>
            </a:avLst>
          </a:prstGeom>
          <a:solidFill>
            <a:srgbClr val="FFFEFA"/>
          </a:solidFill>
          <a:ln w="6350">
            <a:solidFill>
              <a:srgbClr val="E2DED3"/>
            </a:solidFill>
            <a:prstDash val="solid"/>
          </a:ln>
        </p:spPr>
      </p:sp>
      <p:sp>
        <p:nvSpPr>
          <p:cNvPr id="17" name="Text 15"/>
          <p:cNvSpPr/>
          <p:nvPr/>
        </p:nvSpPr>
        <p:spPr>
          <a:xfrm>
            <a:off x="7461250" y="2195711"/>
            <a:ext cx="16256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95590F"/>
                </a:solidFill>
                <a:latin typeface="Plus Jakarta Sans" pitchFamily="34" charset="0"/>
                <a:ea typeface="Plus Jakarta Sans" pitchFamily="34" charset="-122"/>
                <a:cs typeface="Plus Jakarta Sans" pitchFamily="34" charset="-120"/>
              </a:rPr>
              <a:t>04</a:t>
            </a:r>
            <a:endParaRPr lang="en-US" sz="2800" dirty="0"/>
          </a:p>
        </p:txBody>
      </p:sp>
      <p:sp>
        <p:nvSpPr>
          <p:cNvPr id="18" name="Text 16"/>
          <p:cNvSpPr/>
          <p:nvPr/>
        </p:nvSpPr>
        <p:spPr>
          <a:xfrm>
            <a:off x="7461250" y="276969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1A"/>
                </a:solidFill>
                <a:latin typeface="Plus Jakarta Sans" pitchFamily="34" charset="0"/>
                <a:ea typeface="Plus Jakarta Sans" pitchFamily="34" charset="-122"/>
                <a:cs typeface="Plus Jakarta Sans" pitchFamily="34" charset="-120"/>
              </a:rPr>
              <a:t>Pay</a:t>
            </a:r>
            <a:endParaRPr lang="en-US" sz="1600" dirty="0"/>
          </a:p>
        </p:txBody>
      </p:sp>
      <p:sp>
        <p:nvSpPr>
          <p:cNvPr id="19" name="Text 17"/>
          <p:cNvSpPr/>
          <p:nvPr/>
        </p:nvSpPr>
        <p:spPr>
          <a:xfrm>
            <a:off x="7461250" y="3089672"/>
            <a:ext cx="16256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751"/>
                </a:solidFill>
                <a:latin typeface="Plus Jakarta Sans" pitchFamily="34" charset="0"/>
                <a:ea typeface="Plus Jakarta Sans" pitchFamily="34" charset="-122"/>
                <a:cs typeface="Plus Jakarta Sans" pitchFamily="34" charset="-120"/>
              </a:rPr>
              <a:t>A held deposit, or cash when the job is done.</a:t>
            </a:r>
            <a:endParaRPr lang="en-US" sz="1200" dirty="0"/>
          </a:p>
        </p:txBody>
      </p:sp>
      <p:sp>
        <p:nvSpPr>
          <p:cNvPr id="20" name="Shape 18"/>
          <p:cNvSpPr/>
          <p:nvPr/>
        </p:nvSpPr>
        <p:spPr>
          <a:xfrm>
            <a:off x="9398000" y="1986161"/>
            <a:ext cx="1981200" cy="1953022"/>
          </a:xfrm>
          <a:prstGeom prst="roundRect">
            <a:avLst>
              <a:gd name="adj" fmla="val 7803"/>
            </a:avLst>
          </a:prstGeom>
          <a:solidFill>
            <a:srgbClr val="0E5A43"/>
          </a:solidFill>
          <a:ln/>
        </p:spPr>
      </p:sp>
      <p:sp>
        <p:nvSpPr>
          <p:cNvPr id="21" name="Text 19"/>
          <p:cNvSpPr/>
          <p:nvPr/>
        </p:nvSpPr>
        <p:spPr>
          <a:xfrm>
            <a:off x="9601200" y="2189361"/>
            <a:ext cx="16256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39B2D"/>
                </a:solidFill>
                <a:latin typeface="Plus Jakarta Sans" pitchFamily="34" charset="0"/>
                <a:ea typeface="Plus Jakarta Sans" pitchFamily="34" charset="-122"/>
                <a:cs typeface="Plus Jakarta Sans" pitchFamily="34" charset="-120"/>
              </a:rPr>
              <a:t>05</a:t>
            </a:r>
            <a:endParaRPr lang="en-US" sz="2800" dirty="0"/>
          </a:p>
        </p:txBody>
      </p:sp>
      <p:sp>
        <p:nvSpPr>
          <p:cNvPr id="22" name="Text 20"/>
          <p:cNvSpPr/>
          <p:nvPr/>
        </p:nvSpPr>
        <p:spPr>
          <a:xfrm>
            <a:off x="9601200" y="276334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Plus Jakarta Sans" pitchFamily="34" charset="0"/>
                <a:ea typeface="Plus Jakarta Sans" pitchFamily="34" charset="-122"/>
                <a:cs typeface="Plus Jakarta Sans" pitchFamily="34" charset="-120"/>
              </a:rPr>
              <a:t>Review</a:t>
            </a:r>
            <a:endParaRPr lang="en-US" sz="1600" dirty="0"/>
          </a:p>
        </p:txBody>
      </p:sp>
      <p:sp>
        <p:nvSpPr>
          <p:cNvPr id="23" name="Text 21"/>
          <p:cNvSpPr/>
          <p:nvPr/>
        </p:nvSpPr>
        <p:spPr>
          <a:xfrm>
            <a:off x="9601200" y="3083322"/>
            <a:ext cx="16256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E3D9"/>
                </a:solidFill>
                <a:latin typeface="Plus Jakarta Sans" pitchFamily="34" charset="0"/>
                <a:ea typeface="Plus Jakarta Sans" pitchFamily="34" charset="-122"/>
                <a:cs typeface="Plus Jakarta Sans" pitchFamily="34" charset="-120"/>
              </a:rPr>
              <a:t>Good work builds the worker’s rating.</a:t>
            </a:r>
            <a:endParaRPr lang="en-US" sz="1200" dirty="0"/>
          </a:p>
        </p:txBody>
      </p:sp>
      <p:sp>
        <p:nvSpPr>
          <p:cNvPr id="24" name="Shape 22"/>
          <p:cNvSpPr/>
          <p:nvPr/>
        </p:nvSpPr>
        <p:spPr>
          <a:xfrm>
            <a:off x="812800" y="4294783"/>
            <a:ext cx="10566400" cy="711200"/>
          </a:xfrm>
          <a:prstGeom prst="roundRect">
            <a:avLst>
              <a:gd name="adj" fmla="val 17857"/>
            </a:avLst>
          </a:prstGeom>
          <a:solidFill>
            <a:srgbClr val="E8F0EC"/>
          </a:solidFill>
          <a:ln/>
        </p:spPr>
      </p:sp>
      <p:pic>
        <p:nvPicPr>
          <p:cNvPr id="25" name="Image 0" descr="Star">    </p:cNvPr>
          <p:cNvPicPr>
            <a:picLocks noChangeAspect="1"/>
          </p:cNvPicPr>
          <p:nvPr/>
        </p:nvPicPr>
        <p:blipFill>
          <a:blip r:embed="rId1"/>
          <a:srcRect l="0" r="0" t="0" b="0"/>
          <a:stretch/>
        </p:blipFill>
        <p:spPr>
          <a:xfrm>
            <a:off x="1066800" y="4497983"/>
            <a:ext cx="304800" cy="304800"/>
          </a:xfrm>
          <a:prstGeom prst="rect">
            <a:avLst/>
          </a:prstGeom>
        </p:spPr>
      </p:pic>
      <p:sp>
        <p:nvSpPr>
          <p:cNvPr id="26" name="Text 23"/>
          <p:cNvSpPr/>
          <p:nvPr/>
        </p:nvSpPr>
        <p:spPr>
          <a:xfrm>
            <a:off x="1524000" y="4525963"/>
            <a:ext cx="719280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1A"/>
                </a:solidFill>
                <a:latin typeface="Plus Jakarta Sans" pitchFamily="34" charset="0"/>
                <a:ea typeface="Plus Jakarta Sans" pitchFamily="34" charset="-122"/>
                <a:cs typeface="Plus Jakarta Sans" pitchFamily="34" charset="-120"/>
              </a:rPr>
              <a:t>For workers:</a:t>
            </a:r>
            <a:r>
              <a:rPr lang="en-US" sz="1400" dirty="0">
                <a:solidFill>
                  <a:srgbClr val="13201A"/>
                </a:solidFill>
                <a:latin typeface="Plus Jakarta Sans" pitchFamily="34" charset="0"/>
                <a:ea typeface="Plus Jakarta Sans" pitchFamily="34" charset="-122"/>
                <a:cs typeface="Plus Jakarta Sans" pitchFamily="34" charset="-120"/>
              </a:rPr>
              <a:t> a profile with photos and reviews brings steady customers.</a:t>
            </a:r>
            <a:endParaRPr lang="en-US" sz="1400" dirty="0"/>
          </a:p>
        </p:txBody>
      </p:sp>
      <p:sp>
        <p:nvSpPr>
          <p:cNvPr id="27"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36C"/>
                </a:solidFill>
                <a:latin typeface="Plus Jakarta Sans" pitchFamily="34" charset="0"/>
                <a:ea typeface="Plus Jakarta Sans" pitchFamily="34" charset="-122"/>
                <a:cs typeface="Plus Jakarta Sans" pitchFamily="34" charset="-120"/>
              </a:rPr>
              <a:t>Sodo Gebeya · System overview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590F"/>
                </a:solidFill>
                <a:latin typeface="Plus Jakarta Sans" pitchFamily="34" charset="0"/>
                <a:ea typeface="Plus Jakarta Sans" pitchFamily="34" charset="-122"/>
                <a:cs typeface="Plus Jakarta Sans" pitchFamily="34" charset="-120"/>
              </a:rPr>
              <a:t>HOW SELLING WORKS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3201A"/>
                </a:solidFill>
                <a:latin typeface="Plus Jakarta Sans" pitchFamily="34" charset="0"/>
                <a:ea typeface="Plus Jakarta Sans" pitchFamily="34" charset="-122"/>
                <a:cs typeface="Plus Jakarta Sans" pitchFamily="34" charset="-120"/>
              </a:rPr>
              <a:t>Post an item in about 2 minutes</a:t>
            </a:r>
            <a:endParaRPr lang="en-US" sz="3600" dirty="0"/>
          </a:p>
        </p:txBody>
      </p:sp>
      <p:sp>
        <p:nvSpPr>
          <p:cNvPr id="4" name="Shape 2"/>
          <p:cNvSpPr/>
          <p:nvPr/>
        </p:nvSpPr>
        <p:spPr>
          <a:xfrm>
            <a:off x="815975" y="1989336"/>
            <a:ext cx="1987550" cy="1946672"/>
          </a:xfrm>
          <a:prstGeom prst="roundRect">
            <a:avLst>
              <a:gd name="adj" fmla="val 7666"/>
            </a:avLst>
          </a:prstGeom>
          <a:solidFill>
            <a:srgbClr val="FFFEFA"/>
          </a:solidFill>
          <a:ln w="6350">
            <a:solidFill>
              <a:srgbClr val="E2DED3"/>
            </a:solidFill>
            <a:prstDash val="solid"/>
          </a:ln>
        </p:spPr>
      </p:sp>
      <p:sp>
        <p:nvSpPr>
          <p:cNvPr id="5" name="Text 3"/>
          <p:cNvSpPr/>
          <p:nvPr/>
        </p:nvSpPr>
        <p:spPr>
          <a:xfrm>
            <a:off x="1022350" y="2195711"/>
            <a:ext cx="16256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95590F"/>
                </a:solidFill>
                <a:latin typeface="Plus Jakarta Sans" pitchFamily="34" charset="0"/>
                <a:ea typeface="Plus Jakarta Sans" pitchFamily="34" charset="-122"/>
                <a:cs typeface="Plus Jakarta Sans" pitchFamily="34" charset="-120"/>
              </a:rPr>
              <a:t>01</a:t>
            </a:r>
            <a:endParaRPr lang="en-US" sz="2800" dirty="0"/>
          </a:p>
        </p:txBody>
      </p:sp>
      <p:sp>
        <p:nvSpPr>
          <p:cNvPr id="6" name="Text 4"/>
          <p:cNvSpPr/>
          <p:nvPr/>
        </p:nvSpPr>
        <p:spPr>
          <a:xfrm>
            <a:off x="1022350" y="276969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1A"/>
                </a:solidFill>
                <a:latin typeface="Plus Jakarta Sans" pitchFamily="34" charset="0"/>
                <a:ea typeface="Plus Jakarta Sans" pitchFamily="34" charset="-122"/>
                <a:cs typeface="Plus Jakarta Sans" pitchFamily="34" charset="-120"/>
              </a:rPr>
              <a:t>Photos</a:t>
            </a:r>
            <a:endParaRPr lang="en-US" sz="1600" dirty="0"/>
          </a:p>
        </p:txBody>
      </p:sp>
      <p:sp>
        <p:nvSpPr>
          <p:cNvPr id="7" name="Text 5"/>
          <p:cNvSpPr/>
          <p:nvPr/>
        </p:nvSpPr>
        <p:spPr>
          <a:xfrm>
            <a:off x="1022350" y="3089672"/>
            <a:ext cx="16256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751"/>
                </a:solidFill>
                <a:latin typeface="Plus Jakarta Sans" pitchFamily="34" charset="0"/>
                <a:ea typeface="Plus Jakarta Sans" pitchFamily="34" charset="-122"/>
                <a:cs typeface="Plus Jakarta Sans" pitchFamily="34" charset="-120"/>
              </a:rPr>
              <a:t>Take a few clear photos with the phone.</a:t>
            </a:r>
            <a:endParaRPr lang="en-US" sz="1200" dirty="0"/>
          </a:p>
        </p:txBody>
      </p:sp>
      <p:sp>
        <p:nvSpPr>
          <p:cNvPr id="8" name="Shape 6"/>
          <p:cNvSpPr/>
          <p:nvPr/>
        </p:nvSpPr>
        <p:spPr>
          <a:xfrm>
            <a:off x="2962275" y="1989336"/>
            <a:ext cx="1987550" cy="1946672"/>
          </a:xfrm>
          <a:prstGeom prst="roundRect">
            <a:avLst>
              <a:gd name="adj" fmla="val 7666"/>
            </a:avLst>
          </a:prstGeom>
          <a:solidFill>
            <a:srgbClr val="FFFEFA"/>
          </a:solidFill>
          <a:ln w="6350">
            <a:solidFill>
              <a:srgbClr val="E2DED3"/>
            </a:solidFill>
            <a:prstDash val="solid"/>
          </a:ln>
        </p:spPr>
      </p:sp>
      <p:sp>
        <p:nvSpPr>
          <p:cNvPr id="9" name="Text 7"/>
          <p:cNvSpPr/>
          <p:nvPr/>
        </p:nvSpPr>
        <p:spPr>
          <a:xfrm>
            <a:off x="3168650" y="2195711"/>
            <a:ext cx="16256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95590F"/>
                </a:solidFill>
                <a:latin typeface="Plus Jakarta Sans" pitchFamily="34" charset="0"/>
                <a:ea typeface="Plus Jakarta Sans" pitchFamily="34" charset="-122"/>
                <a:cs typeface="Plus Jakarta Sans" pitchFamily="34" charset="-120"/>
              </a:rPr>
              <a:t>02</a:t>
            </a:r>
            <a:endParaRPr lang="en-US" sz="2800" dirty="0"/>
          </a:p>
        </p:txBody>
      </p:sp>
      <p:sp>
        <p:nvSpPr>
          <p:cNvPr id="10" name="Text 8"/>
          <p:cNvSpPr/>
          <p:nvPr/>
        </p:nvSpPr>
        <p:spPr>
          <a:xfrm>
            <a:off x="3168650" y="276969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1A"/>
                </a:solidFill>
                <a:latin typeface="Plus Jakarta Sans" pitchFamily="34" charset="0"/>
                <a:ea typeface="Plus Jakarta Sans" pitchFamily="34" charset="-122"/>
                <a:cs typeface="Plus Jakarta Sans" pitchFamily="34" charset="-120"/>
              </a:rPr>
              <a:t>Details</a:t>
            </a:r>
            <a:endParaRPr lang="en-US" sz="1600" dirty="0"/>
          </a:p>
        </p:txBody>
      </p:sp>
      <p:sp>
        <p:nvSpPr>
          <p:cNvPr id="11" name="Text 9"/>
          <p:cNvSpPr/>
          <p:nvPr/>
        </p:nvSpPr>
        <p:spPr>
          <a:xfrm>
            <a:off x="3168650" y="3089672"/>
            <a:ext cx="16256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751"/>
                </a:solidFill>
                <a:latin typeface="Plus Jakarta Sans" pitchFamily="34" charset="0"/>
                <a:ea typeface="Plus Jakarta Sans" pitchFamily="34" charset="-122"/>
                <a:cs typeface="Plus Jakarta Sans" pitchFamily="34" charset="-120"/>
              </a:rPr>
              <a:t>Title, price and category.</a:t>
            </a:r>
            <a:endParaRPr lang="en-US" sz="1200" dirty="0"/>
          </a:p>
        </p:txBody>
      </p:sp>
      <p:sp>
        <p:nvSpPr>
          <p:cNvPr id="12" name="Shape 10"/>
          <p:cNvSpPr/>
          <p:nvPr/>
        </p:nvSpPr>
        <p:spPr>
          <a:xfrm>
            <a:off x="5108575" y="1989336"/>
            <a:ext cx="1987550" cy="1946672"/>
          </a:xfrm>
          <a:prstGeom prst="roundRect">
            <a:avLst>
              <a:gd name="adj" fmla="val 7666"/>
            </a:avLst>
          </a:prstGeom>
          <a:solidFill>
            <a:srgbClr val="FFFEFA"/>
          </a:solidFill>
          <a:ln w="6350">
            <a:solidFill>
              <a:srgbClr val="E2DED3"/>
            </a:solidFill>
            <a:prstDash val="solid"/>
          </a:ln>
        </p:spPr>
      </p:sp>
      <p:sp>
        <p:nvSpPr>
          <p:cNvPr id="13" name="Text 11"/>
          <p:cNvSpPr/>
          <p:nvPr/>
        </p:nvSpPr>
        <p:spPr>
          <a:xfrm>
            <a:off x="5314950" y="2195711"/>
            <a:ext cx="16256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95590F"/>
                </a:solidFill>
                <a:latin typeface="Plus Jakarta Sans" pitchFamily="34" charset="0"/>
                <a:ea typeface="Plus Jakarta Sans" pitchFamily="34" charset="-122"/>
                <a:cs typeface="Plus Jakarta Sans" pitchFamily="34" charset="-120"/>
              </a:rPr>
              <a:t>03</a:t>
            </a:r>
            <a:endParaRPr lang="en-US" sz="2800" dirty="0"/>
          </a:p>
        </p:txBody>
      </p:sp>
      <p:sp>
        <p:nvSpPr>
          <p:cNvPr id="14" name="Text 12"/>
          <p:cNvSpPr/>
          <p:nvPr/>
        </p:nvSpPr>
        <p:spPr>
          <a:xfrm>
            <a:off x="5314950" y="276969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1A"/>
                </a:solidFill>
                <a:latin typeface="Plus Jakarta Sans" pitchFamily="34" charset="0"/>
                <a:ea typeface="Plus Jakarta Sans" pitchFamily="34" charset="-122"/>
                <a:cs typeface="Plus Jakarta Sans" pitchFamily="34" charset="-120"/>
              </a:rPr>
              <a:t>Area</a:t>
            </a:r>
            <a:endParaRPr lang="en-US" sz="1600" dirty="0"/>
          </a:p>
        </p:txBody>
      </p:sp>
      <p:sp>
        <p:nvSpPr>
          <p:cNvPr id="15" name="Text 13"/>
          <p:cNvSpPr/>
          <p:nvPr/>
        </p:nvSpPr>
        <p:spPr>
          <a:xfrm>
            <a:off x="5314950" y="3089672"/>
            <a:ext cx="16256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751"/>
                </a:solidFill>
                <a:latin typeface="Plus Jakarta Sans" pitchFamily="34" charset="0"/>
                <a:ea typeface="Plus Jakarta Sans" pitchFamily="34" charset="-122"/>
                <a:cs typeface="Plus Jakarta Sans" pitchFamily="34" charset="-120"/>
              </a:rPr>
              <a:t>Where to meet, and whether delivery is offered.</a:t>
            </a:r>
            <a:endParaRPr lang="en-US" sz="1200" dirty="0"/>
          </a:p>
        </p:txBody>
      </p:sp>
      <p:sp>
        <p:nvSpPr>
          <p:cNvPr id="16" name="Shape 14"/>
          <p:cNvSpPr/>
          <p:nvPr/>
        </p:nvSpPr>
        <p:spPr>
          <a:xfrm>
            <a:off x="7254875" y="1989336"/>
            <a:ext cx="1987550" cy="1946672"/>
          </a:xfrm>
          <a:prstGeom prst="roundRect">
            <a:avLst>
              <a:gd name="adj" fmla="val 7666"/>
            </a:avLst>
          </a:prstGeom>
          <a:solidFill>
            <a:srgbClr val="FFFEFA"/>
          </a:solidFill>
          <a:ln w="6350">
            <a:solidFill>
              <a:srgbClr val="E2DED3"/>
            </a:solidFill>
            <a:prstDash val="solid"/>
          </a:ln>
        </p:spPr>
      </p:sp>
      <p:sp>
        <p:nvSpPr>
          <p:cNvPr id="17" name="Text 15"/>
          <p:cNvSpPr/>
          <p:nvPr/>
        </p:nvSpPr>
        <p:spPr>
          <a:xfrm>
            <a:off x="7461250" y="2195711"/>
            <a:ext cx="16256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95590F"/>
                </a:solidFill>
                <a:latin typeface="Plus Jakarta Sans" pitchFamily="34" charset="0"/>
                <a:ea typeface="Plus Jakarta Sans" pitchFamily="34" charset="-122"/>
                <a:cs typeface="Plus Jakarta Sans" pitchFamily="34" charset="-120"/>
              </a:rPr>
              <a:t>04</a:t>
            </a:r>
            <a:endParaRPr lang="en-US" sz="2800" dirty="0"/>
          </a:p>
        </p:txBody>
      </p:sp>
      <p:sp>
        <p:nvSpPr>
          <p:cNvPr id="18" name="Text 16"/>
          <p:cNvSpPr/>
          <p:nvPr/>
        </p:nvSpPr>
        <p:spPr>
          <a:xfrm>
            <a:off x="7461250" y="276969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1A"/>
                </a:solidFill>
                <a:latin typeface="Plus Jakarta Sans" pitchFamily="34" charset="0"/>
                <a:ea typeface="Plus Jakarta Sans" pitchFamily="34" charset="-122"/>
                <a:cs typeface="Plus Jakarta Sans" pitchFamily="34" charset="-120"/>
              </a:rPr>
              <a:t>Review</a:t>
            </a:r>
            <a:endParaRPr lang="en-US" sz="1600" dirty="0"/>
          </a:p>
        </p:txBody>
      </p:sp>
      <p:sp>
        <p:nvSpPr>
          <p:cNvPr id="19" name="Text 17"/>
          <p:cNvSpPr/>
          <p:nvPr/>
        </p:nvSpPr>
        <p:spPr>
          <a:xfrm>
            <a:off x="7461250" y="3089672"/>
            <a:ext cx="16256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751"/>
                </a:solidFill>
                <a:latin typeface="Plus Jakarta Sans" pitchFamily="34" charset="0"/>
                <a:ea typeface="Plus Jakarta Sans" pitchFamily="34" charset="-122"/>
                <a:cs typeface="Plus Jakarta Sans" pitchFamily="34" charset="-120"/>
              </a:rPr>
              <a:t>Our team checks the post, then it goes live.</a:t>
            </a:r>
            <a:endParaRPr lang="en-US" sz="1200" dirty="0"/>
          </a:p>
        </p:txBody>
      </p:sp>
      <p:sp>
        <p:nvSpPr>
          <p:cNvPr id="20" name="Shape 18"/>
          <p:cNvSpPr/>
          <p:nvPr/>
        </p:nvSpPr>
        <p:spPr>
          <a:xfrm>
            <a:off x="9398000" y="1986161"/>
            <a:ext cx="1981200" cy="1953022"/>
          </a:xfrm>
          <a:prstGeom prst="roundRect">
            <a:avLst>
              <a:gd name="adj" fmla="val 7803"/>
            </a:avLst>
          </a:prstGeom>
          <a:solidFill>
            <a:srgbClr val="0E5A43"/>
          </a:solidFill>
          <a:ln/>
        </p:spPr>
      </p:sp>
      <p:sp>
        <p:nvSpPr>
          <p:cNvPr id="21" name="Text 19"/>
          <p:cNvSpPr/>
          <p:nvPr/>
        </p:nvSpPr>
        <p:spPr>
          <a:xfrm>
            <a:off x="9601200" y="2189361"/>
            <a:ext cx="16256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39B2D"/>
                </a:solidFill>
                <a:latin typeface="Plus Jakarta Sans" pitchFamily="34" charset="0"/>
                <a:ea typeface="Plus Jakarta Sans" pitchFamily="34" charset="-122"/>
                <a:cs typeface="Plus Jakarta Sans" pitchFamily="34" charset="-120"/>
              </a:rPr>
              <a:t>05</a:t>
            </a:r>
            <a:endParaRPr lang="en-US" sz="2800" dirty="0"/>
          </a:p>
        </p:txBody>
      </p:sp>
      <p:sp>
        <p:nvSpPr>
          <p:cNvPr id="22" name="Text 20"/>
          <p:cNvSpPr/>
          <p:nvPr/>
        </p:nvSpPr>
        <p:spPr>
          <a:xfrm>
            <a:off x="9601200" y="276334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Plus Jakarta Sans" pitchFamily="34" charset="0"/>
                <a:ea typeface="Plus Jakarta Sans" pitchFamily="34" charset="-122"/>
                <a:cs typeface="Plus Jakarta Sans" pitchFamily="34" charset="-120"/>
              </a:rPr>
              <a:t>Sell</a:t>
            </a:r>
            <a:endParaRPr lang="en-US" sz="1600" dirty="0"/>
          </a:p>
        </p:txBody>
      </p:sp>
      <p:sp>
        <p:nvSpPr>
          <p:cNvPr id="23" name="Text 21"/>
          <p:cNvSpPr/>
          <p:nvPr/>
        </p:nvSpPr>
        <p:spPr>
          <a:xfrm>
            <a:off x="9601200" y="3083322"/>
            <a:ext cx="16256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E3D9"/>
                </a:solidFill>
                <a:latin typeface="Plus Jakarta Sans" pitchFamily="34" charset="0"/>
                <a:ea typeface="Plus Jakarta Sans" pitchFamily="34" charset="-122"/>
                <a:cs typeface="Plus Jakarta Sans" pitchFamily="34" charset="-120"/>
              </a:rPr>
              <a:t>Buyers chat in. Mark it sold when done.</a:t>
            </a:r>
            <a:endParaRPr lang="en-US" sz="1200" dirty="0"/>
          </a:p>
        </p:txBody>
      </p:sp>
      <p:sp>
        <p:nvSpPr>
          <p:cNvPr id="24" name="Shape 22"/>
          <p:cNvSpPr/>
          <p:nvPr/>
        </p:nvSpPr>
        <p:spPr>
          <a:xfrm>
            <a:off x="812800" y="4294783"/>
            <a:ext cx="10566400" cy="711200"/>
          </a:xfrm>
          <a:prstGeom prst="roundRect">
            <a:avLst>
              <a:gd name="adj" fmla="val 17857"/>
            </a:avLst>
          </a:prstGeom>
          <a:solidFill>
            <a:srgbClr val="E8F0EC"/>
          </a:solidFill>
          <a:ln/>
        </p:spPr>
      </p:sp>
      <p:pic>
        <p:nvPicPr>
          <p:cNvPr id="25" name="Image 0" descr="Lightning">    </p:cNvPr>
          <p:cNvPicPr>
            <a:picLocks noChangeAspect="1"/>
          </p:cNvPicPr>
          <p:nvPr/>
        </p:nvPicPr>
        <p:blipFill>
          <a:blip r:embed="rId1"/>
          <a:srcRect l="0" r="0" t="0" b="0"/>
          <a:stretch/>
        </p:blipFill>
        <p:spPr>
          <a:xfrm>
            <a:off x="1066800" y="4497983"/>
            <a:ext cx="304800" cy="304800"/>
          </a:xfrm>
          <a:prstGeom prst="rect">
            <a:avLst/>
          </a:prstGeom>
        </p:spPr>
      </p:pic>
      <p:sp>
        <p:nvSpPr>
          <p:cNvPr id="26" name="Text 23"/>
          <p:cNvSpPr/>
          <p:nvPr/>
        </p:nvSpPr>
        <p:spPr>
          <a:xfrm>
            <a:off x="1524000" y="4525963"/>
            <a:ext cx="776978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1A"/>
                </a:solidFill>
                <a:latin typeface="Plus Jakarta Sans" pitchFamily="34" charset="0"/>
                <a:ea typeface="Plus Jakarta Sans" pitchFamily="34" charset="-122"/>
                <a:cs typeface="Plus Jakarta Sans" pitchFamily="34" charset="-120"/>
              </a:rPr>
              <a:t>Free to start:</a:t>
            </a:r>
            <a:r>
              <a:rPr lang="en-US" sz="1400" dirty="0">
                <a:solidFill>
                  <a:srgbClr val="13201A"/>
                </a:solidFill>
                <a:latin typeface="Plus Jakarta Sans" pitchFamily="34" charset="0"/>
                <a:ea typeface="Plus Jakarta Sans" pitchFamily="34" charset="-122"/>
                <a:cs typeface="Plus Jakarta Sans" pitchFamily="34" charset="-120"/>
              </a:rPr>
              <a:t> 3 posts a week. To post every day or more, sellers choose a plan.</a:t>
            </a:r>
            <a:endParaRPr lang="en-US" sz="1400" dirty="0"/>
          </a:p>
        </p:txBody>
      </p:sp>
      <p:sp>
        <p:nvSpPr>
          <p:cNvPr id="27"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36C"/>
                </a:solidFill>
                <a:latin typeface="Plus Jakarta Sans" pitchFamily="34" charset="0"/>
                <a:ea typeface="Plus Jakarta Sans" pitchFamily="34" charset="-122"/>
                <a:cs typeface="Plus Jakarta Sans" pitchFamily="34" charset="-120"/>
              </a:rPr>
              <a:t>Sodo Gebeya · System overview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590F"/>
                </a:solidFill>
                <a:latin typeface="Plus Jakarta Sans" pitchFamily="34" charset="0"/>
                <a:ea typeface="Plus Jakarta Sans" pitchFamily="34" charset="-122"/>
                <a:cs typeface="Plus Jakarta Sans" pitchFamily="34" charset="-120"/>
              </a:rPr>
              <a:t>CHAT</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3201A"/>
                </a:solidFill>
                <a:latin typeface="Plus Jakarta Sans" pitchFamily="34" charset="0"/>
                <a:ea typeface="Plus Jakarta Sans" pitchFamily="34" charset="-122"/>
                <a:cs typeface="Plus Jakarta Sans" pitchFamily="34" charset="-120"/>
              </a:rPr>
              <a:t>Every deal is talked through inside the app</a:t>
            </a:r>
            <a:endParaRPr lang="en-US" sz="3600" dirty="0"/>
          </a:p>
        </p:txBody>
      </p:sp>
      <p:sp>
        <p:nvSpPr>
          <p:cNvPr id="4" name="Text 2"/>
          <p:cNvSpPr/>
          <p:nvPr/>
        </p:nvSpPr>
        <p:spPr>
          <a:xfrm>
            <a:off x="812800" y="1986161"/>
            <a:ext cx="3662680" cy="98534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3201A"/>
                </a:solidFill>
                <a:latin typeface="Plus Jakarta Sans" pitchFamily="34" charset="0"/>
                <a:ea typeface="Plus Jakarta Sans" pitchFamily="34" charset="-122"/>
                <a:cs typeface="Plus Jakarta Sans" pitchFamily="34" charset="-120"/>
              </a:rPr>
              <a:t>Buyers and sellers never need to share phone numbers to agree on a deal.</a:t>
            </a:r>
            <a:endParaRPr lang="en-US" sz="1800" dirty="0"/>
          </a:p>
        </p:txBody>
      </p:sp>
      <p:sp>
        <p:nvSpPr>
          <p:cNvPr id="5" name="Text 3"/>
          <p:cNvSpPr/>
          <p:nvPr/>
        </p:nvSpPr>
        <p:spPr>
          <a:xfrm>
            <a:off x="812800" y="3098502"/>
            <a:ext cx="366268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751"/>
                </a:solidFill>
                <a:latin typeface="Plus Jakarta Sans" pitchFamily="34" charset="0"/>
                <a:ea typeface="Plus Jakarta Sans" pitchFamily="34" charset="-122"/>
                <a:cs typeface="Plus Jakarta Sans" pitchFamily="34" charset="-120"/>
              </a:rPr>
              <a:t>Keeping the chat inside Sodo Gebeya means there is a record if something goes wrong.</a:t>
            </a:r>
            <a:endParaRPr lang="en-US" sz="1400" dirty="0"/>
          </a:p>
        </p:txBody>
      </p:sp>
      <p:sp>
        <p:nvSpPr>
          <p:cNvPr id="6" name="Shape 4"/>
          <p:cNvSpPr/>
          <p:nvPr/>
        </p:nvSpPr>
        <p:spPr>
          <a:xfrm>
            <a:off x="4778375" y="1989336"/>
            <a:ext cx="6597650" cy="2463800"/>
          </a:xfrm>
          <a:prstGeom prst="roundRect">
            <a:avLst>
              <a:gd name="adj" fmla="val 6057"/>
            </a:avLst>
          </a:prstGeom>
          <a:solidFill>
            <a:srgbClr val="FFFEFA"/>
          </a:solidFill>
          <a:ln w="6350">
            <a:solidFill>
              <a:srgbClr val="E2DED3"/>
            </a:solidFill>
            <a:prstDash val="solid"/>
          </a:ln>
        </p:spPr>
      </p:sp>
      <p:sp>
        <p:nvSpPr>
          <p:cNvPr id="7" name="Shape 5"/>
          <p:cNvSpPr/>
          <p:nvPr/>
        </p:nvSpPr>
        <p:spPr>
          <a:xfrm>
            <a:off x="4781550" y="2605286"/>
            <a:ext cx="6591300" cy="0"/>
          </a:xfrm>
          <a:prstGeom prst="line">
            <a:avLst/>
          </a:prstGeom>
          <a:noFill/>
          <a:ln w="6350">
            <a:solidFill>
              <a:srgbClr val="E2DED3"/>
            </a:solidFill>
            <a:prstDash val="solid"/>
          </a:ln>
        </p:spPr>
      </p:sp>
      <p:pic>
        <p:nvPicPr>
          <p:cNvPr id="8" name="Image 0" descr="Chat">    </p:cNvPr>
          <p:cNvPicPr>
            <a:picLocks noChangeAspect="1"/>
          </p:cNvPicPr>
          <p:nvPr/>
        </p:nvPicPr>
        <p:blipFill>
          <a:blip r:embed="rId1"/>
          <a:srcRect l="0" r="0" t="0" b="0"/>
          <a:stretch/>
        </p:blipFill>
        <p:spPr>
          <a:xfrm>
            <a:off x="5010150" y="2144911"/>
            <a:ext cx="304800" cy="304800"/>
          </a:xfrm>
          <a:prstGeom prst="rect">
            <a:avLst/>
          </a:prstGeom>
        </p:spPr>
      </p:pic>
      <p:sp>
        <p:nvSpPr>
          <p:cNvPr id="9" name="Text 6"/>
          <p:cNvSpPr/>
          <p:nvPr/>
        </p:nvSpPr>
        <p:spPr>
          <a:xfrm>
            <a:off x="5492750" y="2172891"/>
            <a:ext cx="505206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1A"/>
                </a:solidFill>
                <a:latin typeface="Plus Jakarta Sans" pitchFamily="34" charset="0"/>
                <a:ea typeface="Plus Jakarta Sans" pitchFamily="34" charset="-122"/>
                <a:cs typeface="Plus Jakarta Sans" pitchFamily="34" charset="-120"/>
              </a:rPr>
              <a:t>Text and voice notes</a:t>
            </a:r>
            <a:r>
              <a:rPr lang="en-US" sz="1400" dirty="0">
                <a:solidFill>
                  <a:srgbClr val="13201A"/>
                </a:solidFill>
                <a:latin typeface="Plus Jakarta Sans" pitchFamily="34" charset="0"/>
                <a:ea typeface="Plus Jakarta Sans" pitchFamily="34" charset="-122"/>
                <a:cs typeface="Plus Jakarta Sans" pitchFamily="34" charset="-120"/>
              </a:rPr>
              <a:t>, for people who prefer to talk</a:t>
            </a:r>
            <a:endParaRPr lang="en-US" sz="1400" dirty="0"/>
          </a:p>
        </p:txBody>
      </p:sp>
      <p:sp>
        <p:nvSpPr>
          <p:cNvPr id="10" name="Shape 7"/>
          <p:cNvSpPr/>
          <p:nvPr/>
        </p:nvSpPr>
        <p:spPr>
          <a:xfrm>
            <a:off x="4781550" y="3221236"/>
            <a:ext cx="6591300" cy="0"/>
          </a:xfrm>
          <a:prstGeom prst="line">
            <a:avLst/>
          </a:prstGeom>
          <a:noFill/>
          <a:ln w="6350">
            <a:solidFill>
              <a:srgbClr val="E2DED3"/>
            </a:solidFill>
            <a:prstDash val="solid"/>
          </a:ln>
        </p:spPr>
      </p:sp>
      <p:pic>
        <p:nvPicPr>
          <p:cNvPr id="11" name="Image 1" descr="Search">    </p:cNvPr>
          <p:cNvPicPr>
            <a:picLocks noChangeAspect="1"/>
          </p:cNvPicPr>
          <p:nvPr/>
        </p:nvPicPr>
        <p:blipFill>
          <a:blip r:embed="rId2"/>
          <a:srcRect l="0" r="0" t="0" b="0"/>
          <a:stretch/>
        </p:blipFill>
        <p:spPr>
          <a:xfrm>
            <a:off x="5010150" y="2760861"/>
            <a:ext cx="304800" cy="304800"/>
          </a:xfrm>
          <a:prstGeom prst="rect">
            <a:avLst/>
          </a:prstGeom>
        </p:spPr>
      </p:pic>
      <p:sp>
        <p:nvSpPr>
          <p:cNvPr id="12" name="Text 8"/>
          <p:cNvSpPr/>
          <p:nvPr/>
        </p:nvSpPr>
        <p:spPr>
          <a:xfrm>
            <a:off x="5492750" y="2788841"/>
            <a:ext cx="396573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1A"/>
                </a:solidFill>
                <a:latin typeface="Plus Jakarta Sans" pitchFamily="34" charset="0"/>
                <a:ea typeface="Plus Jakarta Sans" pitchFamily="34" charset="-122"/>
                <a:cs typeface="Plus Jakarta Sans" pitchFamily="34" charset="-120"/>
              </a:rPr>
              <a:t>Photos</a:t>
            </a:r>
            <a:r>
              <a:rPr lang="en-US" sz="1400" dirty="0">
                <a:solidFill>
                  <a:srgbClr val="13201A"/>
                </a:solidFill>
                <a:latin typeface="Plus Jakarta Sans" pitchFamily="34" charset="0"/>
                <a:ea typeface="Plus Jakarta Sans" pitchFamily="34" charset="-122"/>
                <a:cs typeface="Plus Jakarta Sans" pitchFamily="34" charset="-120"/>
              </a:rPr>
              <a:t> of the item, sent right in the chat</a:t>
            </a:r>
            <a:endParaRPr lang="en-US" sz="1400" dirty="0"/>
          </a:p>
        </p:txBody>
      </p:sp>
      <p:sp>
        <p:nvSpPr>
          <p:cNvPr id="13" name="Shape 9"/>
          <p:cNvSpPr/>
          <p:nvPr/>
        </p:nvSpPr>
        <p:spPr>
          <a:xfrm>
            <a:off x="4781550" y="3837186"/>
            <a:ext cx="6591300" cy="0"/>
          </a:xfrm>
          <a:prstGeom prst="line">
            <a:avLst/>
          </a:prstGeom>
          <a:noFill/>
          <a:ln w="6350">
            <a:solidFill>
              <a:srgbClr val="E2DED3"/>
            </a:solidFill>
            <a:prstDash val="solid"/>
          </a:ln>
        </p:spPr>
      </p:sp>
      <p:pic>
        <p:nvPicPr>
          <p:cNvPr id="14" name="Image 2" descr="ThumbsUp">    </p:cNvPr>
          <p:cNvPicPr>
            <a:picLocks noChangeAspect="1"/>
          </p:cNvPicPr>
          <p:nvPr/>
        </p:nvPicPr>
        <p:blipFill>
          <a:blip r:embed="rId3"/>
          <a:srcRect l="0" r="0" t="0" b="0"/>
          <a:stretch/>
        </p:blipFill>
        <p:spPr>
          <a:xfrm>
            <a:off x="5010150" y="3376811"/>
            <a:ext cx="304800" cy="304800"/>
          </a:xfrm>
          <a:prstGeom prst="rect">
            <a:avLst/>
          </a:prstGeom>
        </p:spPr>
      </p:pic>
      <p:sp>
        <p:nvSpPr>
          <p:cNvPr id="15" name="Text 10"/>
          <p:cNvSpPr/>
          <p:nvPr/>
        </p:nvSpPr>
        <p:spPr>
          <a:xfrm>
            <a:off x="5492750" y="3404791"/>
            <a:ext cx="403955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1A"/>
                </a:solidFill>
                <a:latin typeface="Plus Jakarta Sans" pitchFamily="34" charset="0"/>
                <a:ea typeface="Plus Jakarta Sans" pitchFamily="34" charset="-122"/>
                <a:cs typeface="Plus Jakarta Sans" pitchFamily="34" charset="-120"/>
              </a:rPr>
              <a:t>Price offers</a:t>
            </a:r>
            <a:r>
              <a:rPr lang="en-US" sz="1400" dirty="0">
                <a:solidFill>
                  <a:srgbClr val="13201A"/>
                </a:solidFill>
                <a:latin typeface="Plus Jakarta Sans" pitchFamily="34" charset="0"/>
                <a:ea typeface="Plus Jakarta Sans" pitchFamily="34" charset="-122"/>
                <a:cs typeface="Plus Jakarta Sans" pitchFamily="34" charset="-120"/>
              </a:rPr>
              <a:t> the seller accepts in one tap</a:t>
            </a:r>
            <a:endParaRPr lang="en-US" sz="1400" dirty="0"/>
          </a:p>
        </p:txBody>
      </p:sp>
      <p:pic>
        <p:nvPicPr>
          <p:cNvPr id="16" name="Image 3" descr="Warning">    </p:cNvPr>
          <p:cNvPicPr>
            <a:picLocks noChangeAspect="1"/>
          </p:cNvPicPr>
          <p:nvPr/>
        </p:nvPicPr>
        <p:blipFill>
          <a:blip r:embed="rId4"/>
          <a:srcRect l="0" r="0" t="0" b="0"/>
          <a:stretch/>
        </p:blipFill>
        <p:spPr>
          <a:xfrm>
            <a:off x="5010150" y="3992761"/>
            <a:ext cx="304800" cy="304800"/>
          </a:xfrm>
          <a:prstGeom prst="rect">
            <a:avLst/>
          </a:prstGeom>
        </p:spPr>
      </p:pic>
      <p:sp>
        <p:nvSpPr>
          <p:cNvPr id="17" name="Text 11"/>
          <p:cNvSpPr/>
          <p:nvPr/>
        </p:nvSpPr>
        <p:spPr>
          <a:xfrm>
            <a:off x="5492750" y="4020741"/>
            <a:ext cx="453592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1A"/>
                </a:solidFill>
                <a:latin typeface="Plus Jakarta Sans" pitchFamily="34" charset="0"/>
                <a:ea typeface="Plus Jakarta Sans" pitchFamily="34" charset="-122"/>
                <a:cs typeface="Plus Jakarta Sans" pitchFamily="34" charset="-120"/>
              </a:rPr>
              <a:t>Report and block</a:t>
            </a:r>
            <a:r>
              <a:rPr lang="en-US" sz="1400" dirty="0">
                <a:solidFill>
                  <a:srgbClr val="13201A"/>
                </a:solidFill>
                <a:latin typeface="Plus Jakarta Sans" pitchFamily="34" charset="0"/>
                <a:ea typeface="Plus Jakarta Sans" pitchFamily="34" charset="-122"/>
                <a:cs typeface="Plus Jakarta Sans" pitchFamily="34" charset="-120"/>
              </a:rPr>
              <a:t> anyone who behaves badly</a:t>
            </a:r>
            <a:endParaRPr lang="en-US" sz="1400" dirty="0"/>
          </a:p>
        </p:txBody>
      </p:sp>
      <p:sp>
        <p:nvSpPr>
          <p:cNvPr id="18"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36C"/>
                </a:solidFill>
                <a:latin typeface="Plus Jakarta Sans" pitchFamily="34" charset="0"/>
                <a:ea typeface="Plus Jakarta Sans" pitchFamily="34" charset="-122"/>
                <a:cs typeface="Plus Jakarta Sans" pitchFamily="34" charset="-120"/>
              </a:rPr>
              <a:t>Sodo Gebeya · System overview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590F"/>
                </a:solidFill>
                <a:latin typeface="Plus Jakarta Sans" pitchFamily="34" charset="0"/>
                <a:ea typeface="Plus Jakarta Sans" pitchFamily="34" charset="-122"/>
                <a:cs typeface="Plus Jakarta Sans" pitchFamily="34" charset="-120"/>
              </a:rPr>
              <a:t>THE SYSTEM</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3201A"/>
                </a:solidFill>
                <a:latin typeface="Plus Jakarta Sans" pitchFamily="34" charset="0"/>
                <a:ea typeface="Plus Jakarta Sans" pitchFamily="34" charset="-122"/>
                <a:cs typeface="Plus Jakarta Sans" pitchFamily="34" charset="-120"/>
              </a:rPr>
              <a:t>Six parts work together</a:t>
            </a:r>
            <a:endParaRPr lang="en-US" sz="3600" dirty="0"/>
          </a:p>
        </p:txBody>
      </p:sp>
      <p:sp>
        <p:nvSpPr>
          <p:cNvPr id="4" name="Shape 2"/>
          <p:cNvSpPr/>
          <p:nvPr/>
        </p:nvSpPr>
        <p:spPr>
          <a:xfrm>
            <a:off x="815975" y="1989336"/>
            <a:ext cx="3380284" cy="1563191"/>
          </a:xfrm>
          <a:prstGeom prst="roundRect">
            <a:avLst>
              <a:gd name="adj" fmla="val 9546"/>
            </a:avLst>
          </a:prstGeom>
          <a:solidFill>
            <a:srgbClr val="FFFEFA"/>
          </a:solidFill>
          <a:ln w="6350">
            <a:solidFill>
              <a:srgbClr val="E2DED3"/>
            </a:solidFill>
            <a:prstDash val="solid"/>
          </a:ln>
        </p:spPr>
      </p:sp>
      <p:pic>
        <p:nvPicPr>
          <p:cNvPr id="5" name="Image 0" descr="Globe">    </p:cNvPr>
          <p:cNvPicPr>
            <a:picLocks noChangeAspect="1"/>
          </p:cNvPicPr>
          <p:nvPr/>
        </p:nvPicPr>
        <p:blipFill>
          <a:blip r:embed="rId1"/>
          <a:srcRect l="0" r="0" t="0" b="0"/>
          <a:stretch/>
        </p:blipFill>
        <p:spPr>
          <a:xfrm>
            <a:off x="1073150" y="2246511"/>
            <a:ext cx="279400" cy="279400"/>
          </a:xfrm>
          <a:prstGeom prst="rect">
            <a:avLst/>
          </a:prstGeom>
        </p:spPr>
      </p:pic>
      <p:sp>
        <p:nvSpPr>
          <p:cNvPr id="6" name="Text 3"/>
          <p:cNvSpPr/>
          <p:nvPr/>
        </p:nvSpPr>
        <p:spPr>
          <a:xfrm>
            <a:off x="1454150" y="2249091"/>
            <a:ext cx="190738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1A"/>
                </a:solidFill>
                <a:latin typeface="Plus Jakarta Sans" pitchFamily="34" charset="0"/>
                <a:ea typeface="Plus Jakarta Sans" pitchFamily="34" charset="-122"/>
                <a:cs typeface="Plus Jakarta Sans" pitchFamily="34" charset="-120"/>
              </a:rPr>
              <a:t>Customer app</a:t>
            </a:r>
            <a:endParaRPr lang="en-US" sz="1800" dirty="0"/>
          </a:p>
        </p:txBody>
      </p:sp>
      <p:sp>
        <p:nvSpPr>
          <p:cNvPr id="7" name="Text 4"/>
          <p:cNvSpPr/>
          <p:nvPr/>
        </p:nvSpPr>
        <p:spPr>
          <a:xfrm>
            <a:off x="1073150" y="2602111"/>
            <a:ext cx="295191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751"/>
                </a:solidFill>
                <a:latin typeface="Plus Jakarta Sans" pitchFamily="34" charset="0"/>
                <a:ea typeface="Plus Jakarta Sans" pitchFamily="34" charset="-122"/>
                <a:cs typeface="Plus Jakarta Sans" pitchFamily="34" charset="-120"/>
              </a:rPr>
              <a:t>Mobile-first website in Amharic and English. A phone app comes later.</a:t>
            </a:r>
            <a:endParaRPr lang="en-US" sz="1300" dirty="0"/>
          </a:p>
        </p:txBody>
      </p:sp>
      <p:sp>
        <p:nvSpPr>
          <p:cNvPr id="8" name="Shape 5"/>
          <p:cNvSpPr/>
          <p:nvPr/>
        </p:nvSpPr>
        <p:spPr>
          <a:xfrm>
            <a:off x="4405809" y="1989336"/>
            <a:ext cx="3380284" cy="1563191"/>
          </a:xfrm>
          <a:prstGeom prst="roundRect">
            <a:avLst>
              <a:gd name="adj" fmla="val 9546"/>
            </a:avLst>
          </a:prstGeom>
          <a:solidFill>
            <a:srgbClr val="FFFEFA"/>
          </a:solidFill>
          <a:ln w="6350">
            <a:solidFill>
              <a:srgbClr val="E2DED3"/>
            </a:solidFill>
            <a:prstDash val="solid"/>
          </a:ln>
        </p:spPr>
      </p:sp>
      <p:pic>
        <p:nvPicPr>
          <p:cNvPr id="9" name="Image 1" descr="Settings">    </p:cNvPr>
          <p:cNvPicPr>
            <a:picLocks noChangeAspect="1"/>
          </p:cNvPicPr>
          <p:nvPr/>
        </p:nvPicPr>
        <p:blipFill>
          <a:blip r:embed="rId2"/>
          <a:srcRect l="0" r="0" t="0" b="0"/>
          <a:stretch/>
        </p:blipFill>
        <p:spPr>
          <a:xfrm>
            <a:off x="4662984" y="2246511"/>
            <a:ext cx="279400" cy="279400"/>
          </a:xfrm>
          <a:prstGeom prst="rect">
            <a:avLst/>
          </a:prstGeom>
        </p:spPr>
      </p:pic>
      <p:sp>
        <p:nvSpPr>
          <p:cNvPr id="10" name="Text 6"/>
          <p:cNvSpPr/>
          <p:nvPr/>
        </p:nvSpPr>
        <p:spPr>
          <a:xfrm>
            <a:off x="5043984" y="2249091"/>
            <a:ext cx="165151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1A"/>
                </a:solidFill>
                <a:latin typeface="Plus Jakarta Sans" pitchFamily="34" charset="0"/>
                <a:ea typeface="Plus Jakarta Sans" pitchFamily="34" charset="-122"/>
                <a:cs typeface="Plus Jakarta Sans" pitchFamily="34" charset="-120"/>
              </a:rPr>
              <a:t>Admin panel</a:t>
            </a:r>
            <a:endParaRPr lang="en-US" sz="1800" dirty="0"/>
          </a:p>
        </p:txBody>
      </p:sp>
      <p:sp>
        <p:nvSpPr>
          <p:cNvPr id="11" name="Text 7"/>
          <p:cNvSpPr/>
          <p:nvPr/>
        </p:nvSpPr>
        <p:spPr>
          <a:xfrm>
            <a:off x="4662984" y="2602111"/>
            <a:ext cx="295191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751"/>
                </a:solidFill>
                <a:latin typeface="Plus Jakarta Sans" pitchFamily="34" charset="0"/>
                <a:ea typeface="Plus Jakarta Sans" pitchFamily="34" charset="-122"/>
                <a:cs typeface="Plus Jakarta Sans" pitchFamily="34" charset="-120"/>
              </a:rPr>
              <a:t>Review posts and KYC, handle reports, set plans and reward switches.</a:t>
            </a:r>
            <a:endParaRPr lang="en-US" sz="1300" dirty="0"/>
          </a:p>
        </p:txBody>
      </p:sp>
      <p:sp>
        <p:nvSpPr>
          <p:cNvPr id="12" name="Shape 8"/>
          <p:cNvSpPr/>
          <p:nvPr/>
        </p:nvSpPr>
        <p:spPr>
          <a:xfrm>
            <a:off x="7995642" y="1989336"/>
            <a:ext cx="3380284" cy="1563191"/>
          </a:xfrm>
          <a:prstGeom prst="roundRect">
            <a:avLst>
              <a:gd name="adj" fmla="val 9546"/>
            </a:avLst>
          </a:prstGeom>
          <a:solidFill>
            <a:srgbClr val="FFFEFA"/>
          </a:solidFill>
          <a:ln w="6350">
            <a:solidFill>
              <a:srgbClr val="E2DED3"/>
            </a:solidFill>
            <a:prstDash val="solid"/>
          </a:ln>
        </p:spPr>
      </p:sp>
      <p:pic>
        <p:nvPicPr>
          <p:cNvPr id="13" name="Image 2" descr="Chat">    </p:cNvPr>
          <p:cNvPicPr>
            <a:picLocks noChangeAspect="1"/>
          </p:cNvPicPr>
          <p:nvPr/>
        </p:nvPicPr>
        <p:blipFill>
          <a:blip r:embed="rId3"/>
          <a:srcRect l="0" r="0" t="0" b="0"/>
          <a:stretch/>
        </p:blipFill>
        <p:spPr>
          <a:xfrm>
            <a:off x="8252817" y="2246511"/>
            <a:ext cx="279400" cy="279400"/>
          </a:xfrm>
          <a:prstGeom prst="rect">
            <a:avLst/>
          </a:prstGeom>
        </p:spPr>
      </p:pic>
      <p:sp>
        <p:nvSpPr>
          <p:cNvPr id="14" name="Text 9"/>
          <p:cNvSpPr/>
          <p:nvPr/>
        </p:nvSpPr>
        <p:spPr>
          <a:xfrm>
            <a:off x="8633817" y="2249091"/>
            <a:ext cx="64472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1A"/>
                </a:solidFill>
                <a:latin typeface="Plus Jakarta Sans" pitchFamily="34" charset="0"/>
                <a:ea typeface="Plus Jakarta Sans" pitchFamily="34" charset="-122"/>
                <a:cs typeface="Plus Jakarta Sans" pitchFamily="34" charset="-120"/>
              </a:rPr>
              <a:t>Chat</a:t>
            </a:r>
            <a:endParaRPr lang="en-US" sz="1800" dirty="0"/>
          </a:p>
        </p:txBody>
      </p:sp>
      <p:sp>
        <p:nvSpPr>
          <p:cNvPr id="15" name="Text 10"/>
          <p:cNvSpPr/>
          <p:nvPr/>
        </p:nvSpPr>
        <p:spPr>
          <a:xfrm>
            <a:off x="8252817" y="2602111"/>
            <a:ext cx="295191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751"/>
                </a:solidFill>
                <a:latin typeface="Plus Jakarta Sans" pitchFamily="34" charset="0"/>
                <a:ea typeface="Plus Jakarta Sans" pitchFamily="34" charset="-122"/>
                <a:cs typeface="Plus Jakarta Sans" pitchFamily="34" charset="-120"/>
              </a:rPr>
              <a:t>Messages, voice notes, photos and offers between users.</a:t>
            </a:r>
            <a:endParaRPr lang="en-US" sz="1300" dirty="0"/>
          </a:p>
        </p:txBody>
      </p:sp>
      <p:sp>
        <p:nvSpPr>
          <p:cNvPr id="16" name="Shape 11"/>
          <p:cNvSpPr/>
          <p:nvPr/>
        </p:nvSpPr>
        <p:spPr>
          <a:xfrm>
            <a:off x="815975" y="3762077"/>
            <a:ext cx="3380284" cy="1332111"/>
          </a:xfrm>
          <a:prstGeom prst="roundRect">
            <a:avLst>
              <a:gd name="adj" fmla="val 11202"/>
            </a:avLst>
          </a:prstGeom>
          <a:solidFill>
            <a:srgbClr val="FFFEFA"/>
          </a:solidFill>
          <a:ln w="6350">
            <a:solidFill>
              <a:srgbClr val="E2DED3"/>
            </a:solidFill>
            <a:prstDash val="solid"/>
          </a:ln>
        </p:spPr>
      </p:sp>
      <p:pic>
        <p:nvPicPr>
          <p:cNvPr id="17" name="Image 3" descr="Key">    </p:cNvPr>
          <p:cNvPicPr>
            <a:picLocks noChangeAspect="1"/>
          </p:cNvPicPr>
          <p:nvPr/>
        </p:nvPicPr>
        <p:blipFill>
          <a:blip r:embed="rId4"/>
          <a:srcRect l="0" r="0" t="0" b="0"/>
          <a:stretch/>
        </p:blipFill>
        <p:spPr>
          <a:xfrm>
            <a:off x="1073150" y="4019252"/>
            <a:ext cx="279400" cy="279400"/>
          </a:xfrm>
          <a:prstGeom prst="rect">
            <a:avLst/>
          </a:prstGeom>
        </p:spPr>
      </p:pic>
      <p:sp>
        <p:nvSpPr>
          <p:cNvPr id="18" name="Text 12"/>
          <p:cNvSpPr/>
          <p:nvPr/>
        </p:nvSpPr>
        <p:spPr>
          <a:xfrm>
            <a:off x="1454150" y="4021832"/>
            <a:ext cx="215979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1A"/>
                </a:solidFill>
                <a:latin typeface="Plus Jakarta Sans" pitchFamily="34" charset="0"/>
                <a:ea typeface="Plus Jakarta Sans" pitchFamily="34" charset="-122"/>
                <a:cs typeface="Plus Jakarta Sans" pitchFamily="34" charset="-120"/>
              </a:rPr>
              <a:t>Sign-in and KYC</a:t>
            </a:r>
            <a:endParaRPr lang="en-US" sz="1800" dirty="0"/>
          </a:p>
        </p:txBody>
      </p:sp>
      <p:sp>
        <p:nvSpPr>
          <p:cNvPr id="19" name="Text 13"/>
          <p:cNvSpPr/>
          <p:nvPr/>
        </p:nvSpPr>
        <p:spPr>
          <a:xfrm>
            <a:off x="1073150" y="4374852"/>
            <a:ext cx="295191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751"/>
                </a:solidFill>
                <a:latin typeface="Plus Jakarta Sans" pitchFamily="34" charset="0"/>
                <a:ea typeface="Plus Jakarta Sans" pitchFamily="34" charset="-122"/>
                <a:cs typeface="Plus Jakarta Sans" pitchFamily="34" charset="-120"/>
              </a:rPr>
              <a:t>Phone number plus SMS code. ID check for the Verified badge.</a:t>
            </a:r>
            <a:endParaRPr lang="en-US" sz="1300" dirty="0"/>
          </a:p>
        </p:txBody>
      </p:sp>
      <p:sp>
        <p:nvSpPr>
          <p:cNvPr id="20" name="Shape 14"/>
          <p:cNvSpPr/>
          <p:nvPr/>
        </p:nvSpPr>
        <p:spPr>
          <a:xfrm>
            <a:off x="4405809" y="3762077"/>
            <a:ext cx="3380284" cy="1332111"/>
          </a:xfrm>
          <a:prstGeom prst="roundRect">
            <a:avLst>
              <a:gd name="adj" fmla="val 11202"/>
            </a:avLst>
          </a:prstGeom>
          <a:solidFill>
            <a:srgbClr val="FFFEFA"/>
          </a:solidFill>
          <a:ln w="6350">
            <a:solidFill>
              <a:srgbClr val="E2DED3"/>
            </a:solidFill>
            <a:prstDash val="solid"/>
          </a:ln>
        </p:spPr>
      </p:sp>
      <p:pic>
        <p:nvPicPr>
          <p:cNvPr id="21" name="Image 4" descr="Lock">    </p:cNvPr>
          <p:cNvPicPr>
            <a:picLocks noChangeAspect="1"/>
          </p:cNvPicPr>
          <p:nvPr/>
        </p:nvPicPr>
        <p:blipFill>
          <a:blip r:embed="rId5"/>
          <a:srcRect l="0" r="0" t="0" b="0"/>
          <a:stretch/>
        </p:blipFill>
        <p:spPr>
          <a:xfrm>
            <a:off x="4662984" y="4019252"/>
            <a:ext cx="279400" cy="279400"/>
          </a:xfrm>
          <a:prstGeom prst="rect">
            <a:avLst/>
          </a:prstGeom>
        </p:spPr>
      </p:pic>
      <p:sp>
        <p:nvSpPr>
          <p:cNvPr id="22" name="Text 15"/>
          <p:cNvSpPr/>
          <p:nvPr/>
        </p:nvSpPr>
        <p:spPr>
          <a:xfrm>
            <a:off x="5043984" y="4021832"/>
            <a:ext cx="132707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1A"/>
                </a:solidFill>
                <a:latin typeface="Plus Jakarta Sans" pitchFamily="34" charset="0"/>
                <a:ea typeface="Plus Jakarta Sans" pitchFamily="34" charset="-122"/>
                <a:cs typeface="Plus Jakarta Sans" pitchFamily="34" charset="-120"/>
              </a:rPr>
              <a:t>Payments</a:t>
            </a:r>
            <a:endParaRPr lang="en-US" sz="1800" dirty="0"/>
          </a:p>
        </p:txBody>
      </p:sp>
      <p:sp>
        <p:nvSpPr>
          <p:cNvPr id="23" name="Text 16"/>
          <p:cNvSpPr/>
          <p:nvPr/>
        </p:nvSpPr>
        <p:spPr>
          <a:xfrm>
            <a:off x="4662984" y="4374852"/>
            <a:ext cx="295191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751"/>
                </a:solidFill>
                <a:latin typeface="Plus Jakarta Sans" pitchFamily="34" charset="0"/>
                <a:ea typeface="Plus Jakarta Sans" pitchFamily="34" charset="-122"/>
                <a:cs typeface="Plus Jakarta Sans" pitchFamily="34" charset="-120"/>
              </a:rPr>
              <a:t>Plans by telebirr or BillPay, and held payments for orders.</a:t>
            </a:r>
            <a:endParaRPr lang="en-US" sz="1300" dirty="0"/>
          </a:p>
        </p:txBody>
      </p:sp>
      <p:sp>
        <p:nvSpPr>
          <p:cNvPr id="24" name="Shape 17"/>
          <p:cNvSpPr/>
          <p:nvPr/>
        </p:nvSpPr>
        <p:spPr>
          <a:xfrm>
            <a:off x="7995642" y="3762077"/>
            <a:ext cx="3380284" cy="1332111"/>
          </a:xfrm>
          <a:prstGeom prst="roundRect">
            <a:avLst>
              <a:gd name="adj" fmla="val 11202"/>
            </a:avLst>
          </a:prstGeom>
          <a:solidFill>
            <a:srgbClr val="FFFEFA"/>
          </a:solidFill>
          <a:ln w="6350">
            <a:solidFill>
              <a:srgbClr val="E2DED3"/>
            </a:solidFill>
            <a:prstDash val="solid"/>
          </a:ln>
        </p:spPr>
      </p:sp>
      <p:pic>
        <p:nvPicPr>
          <p:cNvPr id="25" name="Image 5" descr="PaperPlane">    </p:cNvPr>
          <p:cNvPicPr>
            <a:picLocks noChangeAspect="1"/>
          </p:cNvPicPr>
          <p:nvPr/>
        </p:nvPicPr>
        <p:blipFill>
          <a:blip r:embed="rId6"/>
          <a:srcRect l="0" r="0" t="0" b="0"/>
          <a:stretch/>
        </p:blipFill>
        <p:spPr>
          <a:xfrm>
            <a:off x="8252817" y="4019252"/>
            <a:ext cx="279400" cy="279400"/>
          </a:xfrm>
          <a:prstGeom prst="rect">
            <a:avLst/>
          </a:prstGeom>
        </p:spPr>
      </p:pic>
      <p:sp>
        <p:nvSpPr>
          <p:cNvPr id="26" name="Text 18"/>
          <p:cNvSpPr/>
          <p:nvPr/>
        </p:nvSpPr>
        <p:spPr>
          <a:xfrm>
            <a:off x="8633817" y="4021832"/>
            <a:ext cx="79343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1A"/>
                </a:solidFill>
                <a:latin typeface="Plus Jakarta Sans" pitchFamily="34" charset="0"/>
                <a:ea typeface="Plus Jakarta Sans" pitchFamily="34" charset="-122"/>
                <a:cs typeface="Plus Jakarta Sans" pitchFamily="34" charset="-120"/>
              </a:rPr>
              <a:t>Alerts</a:t>
            </a:r>
            <a:endParaRPr lang="en-US" sz="1800" dirty="0"/>
          </a:p>
        </p:txBody>
      </p:sp>
      <p:sp>
        <p:nvSpPr>
          <p:cNvPr id="27" name="Text 19"/>
          <p:cNvSpPr/>
          <p:nvPr/>
        </p:nvSpPr>
        <p:spPr>
          <a:xfrm>
            <a:off x="8252817" y="4374852"/>
            <a:ext cx="295191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751"/>
                </a:solidFill>
                <a:latin typeface="Plus Jakarta Sans" pitchFamily="34" charset="0"/>
                <a:ea typeface="Plus Jakarta Sans" pitchFamily="34" charset="-122"/>
                <a:cs typeface="Plus Jakarta Sans" pitchFamily="34" charset="-120"/>
              </a:rPr>
              <a:t>SMS and in-app alerts for new chats, orders and plan reminders.</a:t>
            </a:r>
            <a:endParaRPr lang="en-US" sz="1300" dirty="0"/>
          </a:p>
        </p:txBody>
      </p:sp>
      <p:sp>
        <p:nvSpPr>
          <p:cNvPr id="28"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36C"/>
                </a:solidFill>
                <a:latin typeface="Plus Jakarta Sans" pitchFamily="34" charset="0"/>
                <a:ea typeface="Plus Jakarta Sans" pitchFamily="34" charset="-122"/>
                <a:cs typeface="Plus Jakarta Sans" pitchFamily="34" charset="-120"/>
              </a:rPr>
              <a:t>Sodo Gebeya · System overview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3B2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39B2D"/>
                </a:solidFill>
                <a:latin typeface="Plus Jakarta Sans" pitchFamily="34" charset="0"/>
                <a:ea typeface="Plus Jakarta Sans" pitchFamily="34" charset="-122"/>
                <a:cs typeface="Plus Jakarta Sans" pitchFamily="34" charset="-120"/>
              </a:rPr>
              <a:t>TRUST AND SAFETY</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F6F4EE"/>
                </a:solidFill>
                <a:latin typeface="Plus Jakarta Sans" pitchFamily="34" charset="0"/>
                <a:ea typeface="Plus Jakarta Sans" pitchFamily="34" charset="-122"/>
                <a:cs typeface="Plus Jakarta Sans" pitchFamily="34" charset="-120"/>
              </a:rPr>
              <a:t>Six layers that stop scams</a:t>
            </a:r>
            <a:endParaRPr lang="en-US" sz="3600" dirty="0"/>
          </a:p>
        </p:txBody>
      </p:sp>
      <p:sp>
        <p:nvSpPr>
          <p:cNvPr id="4" name="Shape 2"/>
          <p:cNvSpPr/>
          <p:nvPr/>
        </p:nvSpPr>
        <p:spPr>
          <a:xfrm>
            <a:off x="812800" y="1986161"/>
            <a:ext cx="3386634" cy="1325761"/>
          </a:xfrm>
          <a:prstGeom prst="roundRect">
            <a:avLst>
              <a:gd name="adj" fmla="val 11495"/>
            </a:avLst>
          </a:prstGeom>
          <a:solidFill>
            <a:srgbClr val="0E5A43"/>
          </a:solidFill>
          <a:ln/>
        </p:spPr>
      </p:sp>
      <p:pic>
        <p:nvPicPr>
          <p:cNvPr id="5" name="Image 0" descr="Key">    </p:cNvPr>
          <p:cNvPicPr>
            <a:picLocks noChangeAspect="1"/>
          </p:cNvPicPr>
          <p:nvPr/>
        </p:nvPicPr>
        <p:blipFill>
          <a:blip r:embed="rId1"/>
          <a:srcRect l="0" r="0" t="0" b="0"/>
          <a:stretch/>
        </p:blipFill>
        <p:spPr>
          <a:xfrm>
            <a:off x="1066800" y="2240161"/>
            <a:ext cx="279400" cy="279400"/>
          </a:xfrm>
          <a:prstGeom prst="rect">
            <a:avLst/>
          </a:prstGeom>
        </p:spPr>
      </p:pic>
      <p:sp>
        <p:nvSpPr>
          <p:cNvPr id="6" name="Text 3"/>
          <p:cNvSpPr/>
          <p:nvPr/>
        </p:nvSpPr>
        <p:spPr>
          <a:xfrm>
            <a:off x="1447800" y="2242741"/>
            <a:ext cx="184677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E"/>
                </a:solidFill>
                <a:latin typeface="Plus Jakarta Sans" pitchFamily="34" charset="0"/>
                <a:ea typeface="Plus Jakarta Sans" pitchFamily="34" charset="-122"/>
                <a:cs typeface="Plus Jakarta Sans" pitchFamily="34" charset="-120"/>
              </a:rPr>
              <a:t>Phone sign-in</a:t>
            </a:r>
            <a:endParaRPr lang="en-US" sz="1800" dirty="0"/>
          </a:p>
        </p:txBody>
      </p:sp>
      <p:sp>
        <p:nvSpPr>
          <p:cNvPr id="7" name="Text 4"/>
          <p:cNvSpPr/>
          <p:nvPr/>
        </p:nvSpPr>
        <p:spPr>
          <a:xfrm>
            <a:off x="1066800" y="2595761"/>
            <a:ext cx="296499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3D9"/>
                </a:solidFill>
                <a:latin typeface="Plus Jakarta Sans" pitchFamily="34" charset="0"/>
                <a:ea typeface="Plus Jakarta Sans" pitchFamily="34" charset="-122"/>
                <a:cs typeface="Plus Jakarta Sans" pitchFamily="34" charset="-120"/>
              </a:rPr>
              <a:t>Every account is tied to a real phone number.</a:t>
            </a:r>
            <a:endParaRPr lang="en-US" sz="1300" dirty="0"/>
          </a:p>
        </p:txBody>
      </p:sp>
      <p:sp>
        <p:nvSpPr>
          <p:cNvPr id="8" name="Shape 5"/>
          <p:cNvSpPr/>
          <p:nvPr/>
        </p:nvSpPr>
        <p:spPr>
          <a:xfrm>
            <a:off x="4402634" y="1986161"/>
            <a:ext cx="3386634" cy="1325761"/>
          </a:xfrm>
          <a:prstGeom prst="roundRect">
            <a:avLst>
              <a:gd name="adj" fmla="val 11495"/>
            </a:avLst>
          </a:prstGeom>
          <a:solidFill>
            <a:srgbClr val="0E5A43"/>
          </a:solidFill>
          <a:ln/>
        </p:spPr>
      </p:sp>
      <p:pic>
        <p:nvPicPr>
          <p:cNvPr id="9" name="Image 1" descr="Verified">    </p:cNvPr>
          <p:cNvPicPr>
            <a:picLocks noChangeAspect="1"/>
          </p:cNvPicPr>
          <p:nvPr/>
        </p:nvPicPr>
        <p:blipFill>
          <a:blip r:embed="rId2"/>
          <a:srcRect l="0" r="0" t="0" b="0"/>
          <a:stretch/>
        </p:blipFill>
        <p:spPr>
          <a:xfrm>
            <a:off x="4656634" y="2240161"/>
            <a:ext cx="279400" cy="279400"/>
          </a:xfrm>
          <a:prstGeom prst="rect">
            <a:avLst/>
          </a:prstGeom>
        </p:spPr>
      </p:pic>
      <p:sp>
        <p:nvSpPr>
          <p:cNvPr id="10" name="Text 6"/>
          <p:cNvSpPr/>
          <p:nvPr/>
        </p:nvSpPr>
        <p:spPr>
          <a:xfrm>
            <a:off x="5037634" y="2242741"/>
            <a:ext cx="196393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E"/>
                </a:solidFill>
                <a:latin typeface="Plus Jakarta Sans" pitchFamily="34" charset="0"/>
                <a:ea typeface="Plus Jakarta Sans" pitchFamily="34" charset="-122"/>
                <a:cs typeface="Plus Jakarta Sans" pitchFamily="34" charset="-120"/>
              </a:rPr>
              <a:t>Verified badge</a:t>
            </a:r>
            <a:endParaRPr lang="en-US" sz="1800" dirty="0"/>
          </a:p>
        </p:txBody>
      </p:sp>
      <p:sp>
        <p:nvSpPr>
          <p:cNvPr id="11" name="Text 7"/>
          <p:cNvSpPr/>
          <p:nvPr/>
        </p:nvSpPr>
        <p:spPr>
          <a:xfrm>
            <a:off x="4656634" y="2595761"/>
            <a:ext cx="296499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3D9"/>
                </a:solidFill>
                <a:latin typeface="Plus Jakarta Sans" pitchFamily="34" charset="0"/>
                <a:ea typeface="Plus Jakarta Sans" pitchFamily="34" charset="-122"/>
                <a:cs typeface="Plus Jakarta Sans" pitchFamily="34" charset="-120"/>
              </a:rPr>
              <a:t>KYC checks ID and trade licence. Shops get a field visit.</a:t>
            </a:r>
            <a:endParaRPr lang="en-US" sz="1300" dirty="0"/>
          </a:p>
        </p:txBody>
      </p:sp>
      <p:sp>
        <p:nvSpPr>
          <p:cNvPr id="12" name="Shape 8"/>
          <p:cNvSpPr/>
          <p:nvPr/>
        </p:nvSpPr>
        <p:spPr>
          <a:xfrm>
            <a:off x="7992467" y="1986161"/>
            <a:ext cx="3386634" cy="1325761"/>
          </a:xfrm>
          <a:prstGeom prst="roundRect">
            <a:avLst>
              <a:gd name="adj" fmla="val 11495"/>
            </a:avLst>
          </a:prstGeom>
          <a:solidFill>
            <a:srgbClr val="0E5A43"/>
          </a:solidFill>
          <a:ln/>
        </p:spPr>
      </p:sp>
      <p:pic>
        <p:nvPicPr>
          <p:cNvPr id="13" name="Image 2" descr="Lock">    </p:cNvPr>
          <p:cNvPicPr>
            <a:picLocks noChangeAspect="1"/>
          </p:cNvPicPr>
          <p:nvPr/>
        </p:nvPicPr>
        <p:blipFill>
          <a:blip r:embed="rId3"/>
          <a:srcRect l="0" r="0" t="0" b="0"/>
          <a:stretch/>
        </p:blipFill>
        <p:spPr>
          <a:xfrm>
            <a:off x="8246467" y="2240161"/>
            <a:ext cx="279400" cy="279400"/>
          </a:xfrm>
          <a:prstGeom prst="rect">
            <a:avLst/>
          </a:prstGeom>
        </p:spPr>
      </p:pic>
      <p:sp>
        <p:nvSpPr>
          <p:cNvPr id="14" name="Text 9"/>
          <p:cNvSpPr/>
          <p:nvPr/>
        </p:nvSpPr>
        <p:spPr>
          <a:xfrm>
            <a:off x="8627467" y="2242741"/>
            <a:ext cx="187285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E"/>
                </a:solidFill>
                <a:latin typeface="Plus Jakarta Sans" pitchFamily="34" charset="0"/>
                <a:ea typeface="Plus Jakarta Sans" pitchFamily="34" charset="-122"/>
                <a:cs typeface="Plus Jakarta Sans" pitchFamily="34" charset="-120"/>
              </a:rPr>
              <a:t>Held payment</a:t>
            </a:r>
            <a:endParaRPr lang="en-US" sz="1800" dirty="0"/>
          </a:p>
        </p:txBody>
      </p:sp>
      <p:sp>
        <p:nvSpPr>
          <p:cNvPr id="15" name="Text 10"/>
          <p:cNvSpPr/>
          <p:nvPr/>
        </p:nvSpPr>
        <p:spPr>
          <a:xfrm>
            <a:off x="8246467" y="2595761"/>
            <a:ext cx="296499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3D9"/>
                </a:solidFill>
                <a:latin typeface="Plus Jakarta Sans" pitchFamily="34" charset="0"/>
                <a:ea typeface="Plus Jakarta Sans" pitchFamily="34" charset="-122"/>
                <a:cs typeface="Plus Jakarta Sans" pitchFamily="34" charset="-120"/>
              </a:rPr>
              <a:t>Money is released only when the buyer confirms.</a:t>
            </a:r>
            <a:endParaRPr lang="en-US" sz="1300" dirty="0"/>
          </a:p>
        </p:txBody>
      </p:sp>
      <p:sp>
        <p:nvSpPr>
          <p:cNvPr id="16" name="Shape 11"/>
          <p:cNvSpPr/>
          <p:nvPr/>
        </p:nvSpPr>
        <p:spPr>
          <a:xfrm>
            <a:off x="812800" y="3515122"/>
            <a:ext cx="3386634" cy="1325761"/>
          </a:xfrm>
          <a:prstGeom prst="roundRect">
            <a:avLst>
              <a:gd name="adj" fmla="val 11495"/>
            </a:avLst>
          </a:prstGeom>
          <a:solidFill>
            <a:srgbClr val="0E5A43"/>
          </a:solidFill>
          <a:ln/>
        </p:spPr>
      </p:sp>
      <p:pic>
        <p:nvPicPr>
          <p:cNvPr id="17" name="Image 3" descr="Star">    </p:cNvPr>
          <p:cNvPicPr>
            <a:picLocks noChangeAspect="1"/>
          </p:cNvPicPr>
          <p:nvPr/>
        </p:nvPicPr>
        <p:blipFill>
          <a:blip r:embed="rId4"/>
          <a:srcRect l="0" r="0" t="0" b="0"/>
          <a:stretch/>
        </p:blipFill>
        <p:spPr>
          <a:xfrm>
            <a:off x="1066800" y="3769122"/>
            <a:ext cx="279400" cy="279400"/>
          </a:xfrm>
          <a:prstGeom prst="rect">
            <a:avLst/>
          </a:prstGeom>
        </p:spPr>
      </p:pic>
      <p:sp>
        <p:nvSpPr>
          <p:cNvPr id="18" name="Text 12"/>
          <p:cNvSpPr/>
          <p:nvPr/>
        </p:nvSpPr>
        <p:spPr>
          <a:xfrm>
            <a:off x="1447800" y="3771702"/>
            <a:ext cx="111383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E"/>
                </a:solidFill>
                <a:latin typeface="Plus Jakarta Sans" pitchFamily="34" charset="0"/>
                <a:ea typeface="Plus Jakarta Sans" pitchFamily="34" charset="-122"/>
                <a:cs typeface="Plus Jakarta Sans" pitchFamily="34" charset="-120"/>
              </a:rPr>
              <a:t>Reviews</a:t>
            </a:r>
            <a:endParaRPr lang="en-US" sz="1800" dirty="0"/>
          </a:p>
        </p:txBody>
      </p:sp>
      <p:sp>
        <p:nvSpPr>
          <p:cNvPr id="19" name="Text 13"/>
          <p:cNvSpPr/>
          <p:nvPr/>
        </p:nvSpPr>
        <p:spPr>
          <a:xfrm>
            <a:off x="1066800" y="4124722"/>
            <a:ext cx="296499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3D9"/>
                </a:solidFill>
                <a:latin typeface="Plus Jakarta Sans" pitchFamily="34" charset="0"/>
                <a:ea typeface="Plus Jakarta Sans" pitchFamily="34" charset="-122"/>
                <a:cs typeface="Plus Jakarta Sans" pitchFamily="34" charset="-120"/>
              </a:rPr>
              <a:t>Only real buyers can rate a seller or worker.</a:t>
            </a:r>
            <a:endParaRPr lang="en-US" sz="1300" dirty="0"/>
          </a:p>
        </p:txBody>
      </p:sp>
      <p:sp>
        <p:nvSpPr>
          <p:cNvPr id="20" name="Shape 14"/>
          <p:cNvSpPr/>
          <p:nvPr/>
        </p:nvSpPr>
        <p:spPr>
          <a:xfrm>
            <a:off x="4402634" y="3515122"/>
            <a:ext cx="3386634" cy="1325761"/>
          </a:xfrm>
          <a:prstGeom prst="roundRect">
            <a:avLst>
              <a:gd name="adj" fmla="val 11495"/>
            </a:avLst>
          </a:prstGeom>
          <a:solidFill>
            <a:srgbClr val="0E5A43"/>
          </a:solidFill>
          <a:ln/>
        </p:spPr>
      </p:sp>
      <p:pic>
        <p:nvPicPr>
          <p:cNvPr id="21" name="Image 4" descr="CheckCircle">    </p:cNvPr>
          <p:cNvPicPr>
            <a:picLocks noChangeAspect="1"/>
          </p:cNvPicPr>
          <p:nvPr/>
        </p:nvPicPr>
        <p:blipFill>
          <a:blip r:embed="rId5"/>
          <a:srcRect l="0" r="0" t="0" b="0"/>
          <a:stretch/>
        </p:blipFill>
        <p:spPr>
          <a:xfrm>
            <a:off x="4656634" y="3769122"/>
            <a:ext cx="279400" cy="279400"/>
          </a:xfrm>
          <a:prstGeom prst="rect">
            <a:avLst/>
          </a:prstGeom>
        </p:spPr>
      </p:pic>
      <p:sp>
        <p:nvSpPr>
          <p:cNvPr id="22" name="Text 15"/>
          <p:cNvSpPr/>
          <p:nvPr/>
        </p:nvSpPr>
        <p:spPr>
          <a:xfrm>
            <a:off x="5037634" y="3771702"/>
            <a:ext cx="155650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E"/>
                </a:solidFill>
                <a:latin typeface="Plus Jakarta Sans" pitchFamily="34" charset="0"/>
                <a:ea typeface="Plus Jakarta Sans" pitchFamily="34" charset="-122"/>
                <a:cs typeface="Plus Jakarta Sans" pitchFamily="34" charset="-120"/>
              </a:rPr>
              <a:t>Post review</a:t>
            </a:r>
            <a:endParaRPr lang="en-US" sz="1800" dirty="0"/>
          </a:p>
        </p:txBody>
      </p:sp>
      <p:sp>
        <p:nvSpPr>
          <p:cNvPr id="23" name="Text 16"/>
          <p:cNvSpPr/>
          <p:nvPr/>
        </p:nvSpPr>
        <p:spPr>
          <a:xfrm>
            <a:off x="4656634" y="4124722"/>
            <a:ext cx="296499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3D9"/>
                </a:solidFill>
                <a:latin typeface="Plus Jakarta Sans" pitchFamily="34" charset="0"/>
                <a:ea typeface="Plus Jakarta Sans" pitchFamily="34" charset="-122"/>
                <a:cs typeface="Plus Jakarta Sans" pitchFamily="34" charset="-120"/>
              </a:rPr>
              <a:t>Our team checks posts before they go live.</a:t>
            </a:r>
            <a:endParaRPr lang="en-US" sz="1300" dirty="0"/>
          </a:p>
        </p:txBody>
      </p:sp>
      <p:sp>
        <p:nvSpPr>
          <p:cNvPr id="24" name="Shape 17"/>
          <p:cNvSpPr/>
          <p:nvPr/>
        </p:nvSpPr>
        <p:spPr>
          <a:xfrm>
            <a:off x="7992467" y="3515122"/>
            <a:ext cx="3386634" cy="1325761"/>
          </a:xfrm>
          <a:prstGeom prst="roundRect">
            <a:avLst>
              <a:gd name="adj" fmla="val 11495"/>
            </a:avLst>
          </a:prstGeom>
          <a:solidFill>
            <a:srgbClr val="0E5A43"/>
          </a:solidFill>
          <a:ln/>
        </p:spPr>
      </p:sp>
      <p:pic>
        <p:nvPicPr>
          <p:cNvPr id="25" name="Image 5" descr="Warning">    </p:cNvPr>
          <p:cNvPicPr>
            <a:picLocks noChangeAspect="1"/>
          </p:cNvPicPr>
          <p:nvPr/>
        </p:nvPicPr>
        <p:blipFill>
          <a:blip r:embed="rId6"/>
          <a:srcRect l="0" r="0" t="0" b="0"/>
          <a:stretch/>
        </p:blipFill>
        <p:spPr>
          <a:xfrm>
            <a:off x="8246467" y="3769122"/>
            <a:ext cx="279400" cy="279400"/>
          </a:xfrm>
          <a:prstGeom prst="rect">
            <a:avLst/>
          </a:prstGeom>
        </p:spPr>
      </p:pic>
      <p:sp>
        <p:nvSpPr>
          <p:cNvPr id="26" name="Text 18"/>
          <p:cNvSpPr/>
          <p:nvPr/>
        </p:nvSpPr>
        <p:spPr>
          <a:xfrm>
            <a:off x="8627467" y="3771702"/>
            <a:ext cx="228540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E"/>
                </a:solidFill>
                <a:latin typeface="Plus Jakarta Sans" pitchFamily="34" charset="0"/>
                <a:ea typeface="Plus Jakarta Sans" pitchFamily="34" charset="-122"/>
                <a:cs typeface="Plus Jakarta Sans" pitchFamily="34" charset="-120"/>
              </a:rPr>
              <a:t>Report and block</a:t>
            </a:r>
            <a:endParaRPr lang="en-US" sz="1800" dirty="0"/>
          </a:p>
        </p:txBody>
      </p:sp>
      <p:sp>
        <p:nvSpPr>
          <p:cNvPr id="27" name="Text 19"/>
          <p:cNvSpPr/>
          <p:nvPr/>
        </p:nvSpPr>
        <p:spPr>
          <a:xfrm>
            <a:off x="8246467" y="4124722"/>
            <a:ext cx="296499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3D9"/>
                </a:solidFill>
                <a:latin typeface="Plus Jakarta Sans" pitchFamily="34" charset="0"/>
                <a:ea typeface="Plus Jakarta Sans" pitchFamily="34" charset="-122"/>
                <a:cs typeface="Plus Jakarta Sans" pitchFamily="34" charset="-120"/>
              </a:rPr>
              <a:t>Bad accounts are removed quickly.</a:t>
            </a:r>
            <a:endParaRPr lang="en-US" sz="1300" dirty="0"/>
          </a:p>
        </p:txBody>
      </p:sp>
      <p:sp>
        <p:nvSpPr>
          <p:cNvPr id="28"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9BB"/>
                </a:solidFill>
                <a:latin typeface="Plus Jakarta Sans" pitchFamily="34" charset="0"/>
                <a:ea typeface="Plus Jakarta Sans" pitchFamily="34" charset="-122"/>
                <a:cs typeface="Plus Jakarta Sans" pitchFamily="34" charset="-120"/>
              </a:rPr>
              <a:t>Sodo Gebeya · System overview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590F"/>
                </a:solidFill>
                <a:latin typeface="Plus Jakarta Sans" pitchFamily="34" charset="0"/>
                <a:ea typeface="Plus Jakarta Sans" pitchFamily="34" charset="-122"/>
                <a:cs typeface="Plus Jakarta Sans" pitchFamily="34" charset="-120"/>
              </a:rPr>
              <a:t>JOBS AND CVS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3201A"/>
                </a:solidFill>
                <a:latin typeface="Plus Jakarta Sans" pitchFamily="34" charset="0"/>
                <a:ea typeface="Plus Jakarta Sans" pitchFamily="34" charset="-122"/>
                <a:cs typeface="Plus Jakarta Sans" pitchFamily="34" charset="-120"/>
              </a:rPr>
              <a:t>From profile to job in one tap</a:t>
            </a:r>
            <a:endParaRPr lang="en-US" sz="3600" dirty="0"/>
          </a:p>
        </p:txBody>
      </p:sp>
      <p:sp>
        <p:nvSpPr>
          <p:cNvPr id="4" name="Shape 2"/>
          <p:cNvSpPr/>
          <p:nvPr/>
        </p:nvSpPr>
        <p:spPr>
          <a:xfrm>
            <a:off x="815975" y="1989336"/>
            <a:ext cx="5175250" cy="2150070"/>
          </a:xfrm>
          <a:prstGeom prst="roundRect">
            <a:avLst>
              <a:gd name="adj" fmla="val 6940"/>
            </a:avLst>
          </a:prstGeom>
          <a:solidFill>
            <a:srgbClr val="FFFEFA"/>
          </a:solidFill>
          <a:ln w="6350">
            <a:solidFill>
              <a:srgbClr val="E2DED3"/>
            </a:solidFill>
            <a:prstDash val="solid"/>
          </a:ln>
        </p:spPr>
      </p:sp>
      <p:sp>
        <p:nvSpPr>
          <p:cNvPr id="5" name="Text 3"/>
          <p:cNvSpPr/>
          <p:nvPr/>
        </p:nvSpPr>
        <p:spPr>
          <a:xfrm>
            <a:off x="1123950" y="2302371"/>
            <a:ext cx="223623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5A43"/>
                </a:solidFill>
                <a:latin typeface="Plus Jakarta Sans" pitchFamily="34" charset="0"/>
                <a:ea typeface="Plus Jakarta Sans" pitchFamily="34" charset="-122"/>
                <a:cs typeface="Plus Jakarta Sans" pitchFamily="34" charset="-120"/>
              </a:rPr>
              <a:t>For job seekers</a:t>
            </a:r>
            <a:endParaRPr lang="en-US" sz="2000" dirty="0"/>
          </a:p>
        </p:txBody>
      </p:sp>
      <p:sp>
        <p:nvSpPr>
          <p:cNvPr id="6" name="Text 4"/>
          <p:cNvSpPr/>
          <p:nvPr/>
        </p:nvSpPr>
        <p:spPr>
          <a:xfrm>
            <a:off x="5100935" y="2297311"/>
            <a:ext cx="582315" cy="314920"/>
          </a:xfrm>
          <a:prstGeom prst="roundRect">
            <a:avLst>
              <a:gd name="adj" fmla="val 50000"/>
            </a:avLst>
          </a:prstGeom>
          <a:solidFill>
            <a:srgbClr val="E8F0EC"/>
          </a:solidFill>
          <a:ln/>
        </p:spPr>
        <p:txBody>
          <a:bodyPr wrap="none" lIns="0" tIns="0" rIns="0" bIns="0" rtlCol="0" anchor="ctr">
            <a:normAutofit/>
          </a:bodyPr>
          <a:lstStyle/>
          <a:p>
            <a:pPr algn="ctr" indent="0" marL="0">
              <a:lnSpc>
                <a:spcPts val="1680"/>
              </a:lnSpc>
              <a:buNone/>
            </a:pPr>
            <a:r>
              <a:rPr lang="en-US" sz="1200" b="1" dirty="0">
                <a:solidFill>
                  <a:srgbClr val="0E5A43"/>
                </a:solidFill>
                <a:latin typeface="Plus Jakarta Sans" pitchFamily="34" charset="0"/>
                <a:ea typeface="Plus Jakarta Sans" pitchFamily="34" charset="-122"/>
                <a:cs typeface="Plus Jakarta Sans" pitchFamily="34" charset="-120"/>
              </a:rPr>
              <a:t>Free</a:t>
            </a:r>
            <a:endParaRPr lang="en-US" sz="1200" dirty="0"/>
          </a:p>
        </p:txBody>
      </p:sp>
      <p:sp>
        <p:nvSpPr>
          <p:cNvPr id="7" name="Text 5"/>
          <p:cNvSpPr/>
          <p:nvPr/>
        </p:nvSpPr>
        <p:spPr>
          <a:xfrm>
            <a:off x="1202182" y="2764631"/>
            <a:ext cx="4610227" cy="10922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5751"/>
                </a:solidFill>
                <a:latin typeface="Plus Jakarta Sans" pitchFamily="34" charset="0"/>
                <a:ea typeface="Plus Jakarta Sans" pitchFamily="34" charset="-122"/>
                <a:cs typeface="Plus Jakarta Sans" pitchFamily="34" charset="-120"/>
              </a:rPr>
              <a:t>Students and graduates build a simple profile</a:t>
            </a:r>
            <a:endParaRPr lang="en-US" sz="1400" dirty="0"/>
          </a:p>
          <a:p>
            <a:pPr algn="l" marL="175768" indent="-175768">
              <a:lnSpc>
                <a:spcPts val="2100"/>
              </a:lnSpc>
              <a:buSzPct val="100000"/>
              <a:buChar char="•"/>
            </a:pPr>
            <a:r>
              <a:rPr lang="en-US" sz="1400" dirty="0">
                <a:solidFill>
                  <a:srgbClr val="4A5751"/>
                </a:solidFill>
                <a:latin typeface="Plus Jakarta Sans" pitchFamily="34" charset="0"/>
                <a:ea typeface="Plus Jakarta Sans" pitchFamily="34" charset="-122"/>
                <a:cs typeface="Plus Jakarta Sans" pitchFamily="34" charset="-120"/>
              </a:rPr>
              <a:t>The system turns it into a clean CV automatically</a:t>
            </a:r>
            <a:endParaRPr lang="en-US" sz="1400" dirty="0"/>
          </a:p>
          <a:p>
            <a:pPr algn="l" marL="175768" indent="-175768">
              <a:lnSpc>
                <a:spcPts val="2100"/>
              </a:lnSpc>
              <a:buSzPct val="100000"/>
              <a:buChar char="•"/>
            </a:pPr>
            <a:r>
              <a:rPr lang="en-US" sz="1400" dirty="0">
                <a:solidFill>
                  <a:srgbClr val="4A5751"/>
                </a:solidFill>
                <a:latin typeface="Plus Jakarta Sans" pitchFamily="34" charset="0"/>
                <a:ea typeface="Plus Jakarta Sans" pitchFamily="34" charset="-122"/>
                <a:cs typeface="Plus Jakarta Sans" pitchFamily="34" charset="-120"/>
              </a:rPr>
              <a:t>Apply to any job with one tap</a:t>
            </a:r>
            <a:endParaRPr lang="en-US" sz="1400" dirty="0"/>
          </a:p>
          <a:p>
            <a:pPr algn="l" marL="175768" indent="-175768">
              <a:lnSpc>
                <a:spcPts val="2100"/>
              </a:lnSpc>
              <a:buSzPct val="100000"/>
              <a:buChar char="•"/>
            </a:pPr>
            <a:r>
              <a:rPr lang="en-US" sz="1400" dirty="0">
                <a:solidFill>
                  <a:srgbClr val="4A5751"/>
                </a:solidFill>
                <a:latin typeface="Plus Jakarta Sans" pitchFamily="34" charset="0"/>
                <a:ea typeface="Plus Jakarta Sans" pitchFamily="34" charset="-122"/>
                <a:cs typeface="Plus Jakarta Sans" pitchFamily="34" charset="-120"/>
              </a:rPr>
              <a:t>Optional: order a professionally written CV</a:t>
            </a:r>
            <a:endParaRPr lang="en-US" sz="1400" dirty="0"/>
          </a:p>
        </p:txBody>
      </p:sp>
      <p:sp>
        <p:nvSpPr>
          <p:cNvPr id="8" name="Shape 6"/>
          <p:cNvSpPr/>
          <p:nvPr/>
        </p:nvSpPr>
        <p:spPr>
          <a:xfrm>
            <a:off x="6200775" y="1989336"/>
            <a:ext cx="5175250" cy="2150070"/>
          </a:xfrm>
          <a:prstGeom prst="roundRect">
            <a:avLst>
              <a:gd name="adj" fmla="val 6940"/>
            </a:avLst>
          </a:prstGeom>
          <a:solidFill>
            <a:srgbClr val="FFFEFA"/>
          </a:solidFill>
          <a:ln w="6350">
            <a:solidFill>
              <a:srgbClr val="E2DED3"/>
            </a:solidFill>
            <a:prstDash val="solid"/>
          </a:ln>
        </p:spPr>
      </p:sp>
      <p:sp>
        <p:nvSpPr>
          <p:cNvPr id="9" name="Text 7"/>
          <p:cNvSpPr/>
          <p:nvPr/>
        </p:nvSpPr>
        <p:spPr>
          <a:xfrm>
            <a:off x="6508750" y="2302371"/>
            <a:ext cx="21201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5A43"/>
                </a:solidFill>
                <a:latin typeface="Plus Jakarta Sans" pitchFamily="34" charset="0"/>
                <a:ea typeface="Plus Jakarta Sans" pitchFamily="34" charset="-122"/>
                <a:cs typeface="Plus Jakarta Sans" pitchFamily="34" charset="-120"/>
              </a:rPr>
              <a:t>For employers</a:t>
            </a:r>
            <a:endParaRPr lang="en-US" sz="2000" dirty="0"/>
          </a:p>
        </p:txBody>
      </p:sp>
      <p:sp>
        <p:nvSpPr>
          <p:cNvPr id="10" name="Text 8"/>
          <p:cNvSpPr/>
          <p:nvPr/>
        </p:nvSpPr>
        <p:spPr>
          <a:xfrm>
            <a:off x="10287198" y="2297311"/>
            <a:ext cx="780852" cy="314920"/>
          </a:xfrm>
          <a:prstGeom prst="roundRect">
            <a:avLst>
              <a:gd name="adj" fmla="val 50000"/>
            </a:avLst>
          </a:prstGeom>
          <a:solidFill>
            <a:srgbClr val="FBEBD2"/>
          </a:solidFill>
          <a:ln/>
        </p:spPr>
        <p:txBody>
          <a:bodyPr wrap="none" lIns="0" tIns="0" rIns="0" bIns="0" rtlCol="0" anchor="ctr">
            <a:normAutofit/>
          </a:bodyPr>
          <a:lstStyle/>
          <a:p>
            <a:pPr algn="ctr" indent="0" marL="0">
              <a:lnSpc>
                <a:spcPts val="1680"/>
              </a:lnSpc>
              <a:buNone/>
            </a:pPr>
            <a:r>
              <a:rPr lang="en-US" sz="1200" b="1" dirty="0">
                <a:solidFill>
                  <a:srgbClr val="6B400A"/>
                </a:solidFill>
                <a:latin typeface="Plus Jakarta Sans" pitchFamily="34" charset="0"/>
                <a:ea typeface="Plus Jakarta Sans" pitchFamily="34" charset="-122"/>
                <a:cs typeface="Plus Jakarta Sans" pitchFamily="34" charset="-120"/>
              </a:rPr>
              <a:t>199 birr</a:t>
            </a:r>
            <a:endParaRPr lang="en-US" sz="1200" dirty="0"/>
          </a:p>
        </p:txBody>
      </p:sp>
      <p:sp>
        <p:nvSpPr>
          <p:cNvPr id="11" name="Text 9"/>
          <p:cNvSpPr/>
          <p:nvPr/>
        </p:nvSpPr>
        <p:spPr>
          <a:xfrm>
            <a:off x="6586982" y="2764631"/>
            <a:ext cx="4610227" cy="10922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5751"/>
                </a:solidFill>
                <a:latin typeface="Plus Jakarta Sans" pitchFamily="34" charset="0"/>
                <a:ea typeface="Plus Jakarta Sans" pitchFamily="34" charset="-122"/>
                <a:cs typeface="Plus Jakarta Sans" pitchFamily="34" charset="-120"/>
              </a:rPr>
              <a:t>Shops, offices, schools and NGOs post jobs</a:t>
            </a:r>
            <a:endParaRPr lang="en-US" sz="1400" dirty="0"/>
          </a:p>
          <a:p>
            <a:pPr algn="l" marL="175768" indent="-175768">
              <a:lnSpc>
                <a:spcPts val="2100"/>
              </a:lnSpc>
              <a:buSzPct val="100000"/>
              <a:buChar char="•"/>
            </a:pPr>
            <a:r>
              <a:rPr lang="en-US" sz="1400" dirty="0">
                <a:solidFill>
                  <a:srgbClr val="4A5751"/>
                </a:solidFill>
                <a:latin typeface="Plus Jakarta Sans" pitchFamily="34" charset="0"/>
                <a:ea typeface="Plus Jakarta Sans" pitchFamily="34" charset="-122"/>
                <a:cs typeface="Plus Jakarta Sans" pitchFamily="34" charset="-120"/>
              </a:rPr>
              <a:t>First job post is free, then 199 birr for 30 days</a:t>
            </a:r>
            <a:endParaRPr lang="en-US" sz="1400" dirty="0"/>
          </a:p>
          <a:p>
            <a:pPr algn="l" marL="175768" indent="-175768">
              <a:lnSpc>
                <a:spcPts val="2100"/>
              </a:lnSpc>
              <a:buSzPct val="100000"/>
              <a:buChar char="•"/>
            </a:pPr>
            <a:r>
              <a:rPr lang="en-US" sz="1400" dirty="0">
                <a:solidFill>
                  <a:srgbClr val="4A5751"/>
                </a:solidFill>
                <a:latin typeface="Plus Jakarta Sans" pitchFamily="34" charset="0"/>
                <a:ea typeface="Plus Jakarta Sans" pitchFamily="34" charset="-122"/>
                <a:cs typeface="Plus Jakarta Sans" pitchFamily="34" charset="-120"/>
              </a:rPr>
              <a:t>Featured job: 150 birr extra</a:t>
            </a:r>
            <a:endParaRPr lang="en-US" sz="1400" dirty="0"/>
          </a:p>
          <a:p>
            <a:pPr algn="l" marL="175768" indent="-175768">
              <a:lnSpc>
                <a:spcPts val="2100"/>
              </a:lnSpc>
              <a:buSzPct val="100000"/>
              <a:buChar char="•"/>
            </a:pPr>
            <a:r>
              <a:rPr lang="en-US" sz="1400" dirty="0">
                <a:solidFill>
                  <a:srgbClr val="4A5751"/>
                </a:solidFill>
                <a:latin typeface="Plus Jakarta Sans" pitchFamily="34" charset="0"/>
                <a:ea typeface="Plus Jakarta Sans" pitchFamily="34" charset="-122"/>
                <a:cs typeface="Plus Jakarta Sans" pitchFamily="34" charset="-120"/>
              </a:rPr>
              <a:t>All CVs arrive in one tidy list</a:t>
            </a:r>
            <a:endParaRPr lang="en-US" sz="14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36C"/>
                </a:solidFill>
                <a:latin typeface="Plus Jakarta Sans" pitchFamily="34" charset="0"/>
                <a:ea typeface="Plus Jakarta Sans" pitchFamily="34" charset="-122"/>
                <a:cs typeface="Plus Jakarta Sans" pitchFamily="34" charset="-120"/>
              </a:rPr>
              <a:t>Sodo Gebeya · System overview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590F"/>
                </a:solidFill>
                <a:latin typeface="Plus Jakarta Sans" pitchFamily="34" charset="0"/>
                <a:ea typeface="Plus Jakarta Sans" pitchFamily="34" charset="-122"/>
                <a:cs typeface="Plus Jakarta Sans" pitchFamily="34" charset="-120"/>
              </a:rPr>
              <a:t>PROFESSIONAL CV SERVICE</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3201A"/>
                </a:solidFill>
                <a:latin typeface="Plus Jakarta Sans" pitchFamily="34" charset="0"/>
                <a:ea typeface="Plus Jakarta Sans" pitchFamily="34" charset="-122"/>
                <a:cs typeface="Plus Jakarta Sans" pitchFamily="34" charset="-120"/>
              </a:rPr>
              <a:t>We write the CV for you</a:t>
            </a:r>
            <a:endParaRPr lang="en-US" sz="3600" dirty="0"/>
          </a:p>
        </p:txBody>
      </p:sp>
      <p:sp>
        <p:nvSpPr>
          <p:cNvPr id="4" name="Shape 2"/>
          <p:cNvSpPr/>
          <p:nvPr/>
        </p:nvSpPr>
        <p:spPr>
          <a:xfrm>
            <a:off x="815975" y="1989336"/>
            <a:ext cx="3384550" cy="2413992"/>
          </a:xfrm>
          <a:prstGeom prst="roundRect">
            <a:avLst>
              <a:gd name="adj" fmla="val 6182"/>
            </a:avLst>
          </a:prstGeom>
          <a:solidFill>
            <a:srgbClr val="FFFEFA"/>
          </a:solidFill>
          <a:ln w="6350">
            <a:solidFill>
              <a:srgbClr val="E2DED3"/>
            </a:solidFill>
            <a:prstDash val="solid"/>
          </a:ln>
        </p:spPr>
      </p:sp>
      <p:sp>
        <p:nvSpPr>
          <p:cNvPr id="5" name="Text 3"/>
          <p:cNvSpPr/>
          <p:nvPr/>
        </p:nvSpPr>
        <p:spPr>
          <a:xfrm>
            <a:off x="1123950" y="2297311"/>
            <a:ext cx="285165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1A"/>
                </a:solidFill>
                <a:latin typeface="Plus Jakarta Sans" pitchFamily="34" charset="0"/>
                <a:ea typeface="Plus Jakarta Sans" pitchFamily="34" charset="-122"/>
                <a:cs typeface="Plus Jakarta Sans" pitchFamily="34" charset="-120"/>
              </a:rPr>
              <a:t>Basic CV</a:t>
            </a:r>
            <a:endParaRPr lang="en-US" sz="1800" dirty="0"/>
          </a:p>
        </p:txBody>
      </p:sp>
      <p:sp>
        <p:nvSpPr>
          <p:cNvPr id="6" name="Text 4"/>
          <p:cNvSpPr/>
          <p:nvPr/>
        </p:nvSpPr>
        <p:spPr>
          <a:xfrm>
            <a:off x="1123950" y="2673152"/>
            <a:ext cx="2851658"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0E5A43"/>
                </a:solidFill>
                <a:latin typeface="Plus Jakarta Sans" pitchFamily="34" charset="0"/>
                <a:ea typeface="Plus Jakarta Sans" pitchFamily="34" charset="-122"/>
                <a:cs typeface="Plus Jakarta Sans" pitchFamily="34" charset="-120"/>
              </a:rPr>
              <a:t>199 </a:t>
            </a:r>
            <a:r>
              <a:rPr lang="en-US" sz="3600" b="1" dirty="0">
                <a:solidFill>
                  <a:srgbClr val="4A5751"/>
                </a:solidFill>
                <a:latin typeface="Plus Jakarta Sans" pitchFamily="34" charset="0"/>
                <a:ea typeface="Plus Jakarta Sans" pitchFamily="34" charset="-122"/>
                <a:cs typeface="Plus Jakarta Sans" pitchFamily="34" charset="-120"/>
              </a:rPr>
              <a:t>birr</a:t>
            </a:r>
            <a:endParaRPr lang="en-US" sz="3600" dirty="0"/>
          </a:p>
        </p:txBody>
      </p:sp>
      <p:sp>
        <p:nvSpPr>
          <p:cNvPr id="7" name="Text 5"/>
          <p:cNvSpPr/>
          <p:nvPr/>
        </p:nvSpPr>
        <p:spPr>
          <a:xfrm>
            <a:off x="1123950" y="3414812"/>
            <a:ext cx="285165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751"/>
                </a:solidFill>
                <a:latin typeface="Plus Jakarta Sans" pitchFamily="34" charset="0"/>
                <a:ea typeface="Plus Jakarta Sans" pitchFamily="34" charset="-122"/>
                <a:cs typeface="Plus Jakarta Sans" pitchFamily="34" charset="-120"/>
              </a:rPr>
              <a:t>One-page CV, English or Amharic, PDF and Word. Ready in 2 days.</a:t>
            </a:r>
            <a:endParaRPr lang="en-US" sz="1300" dirty="0"/>
          </a:p>
        </p:txBody>
      </p:sp>
      <p:sp>
        <p:nvSpPr>
          <p:cNvPr id="8" name="Shape 6"/>
          <p:cNvSpPr/>
          <p:nvPr/>
        </p:nvSpPr>
        <p:spPr>
          <a:xfrm>
            <a:off x="4410075" y="1989336"/>
            <a:ext cx="3384550" cy="2413992"/>
          </a:xfrm>
          <a:prstGeom prst="roundRect">
            <a:avLst>
              <a:gd name="adj" fmla="val 6182"/>
            </a:avLst>
          </a:prstGeom>
          <a:solidFill>
            <a:srgbClr val="FFFEFA"/>
          </a:solidFill>
          <a:ln w="6350">
            <a:solidFill>
              <a:srgbClr val="E2DED3"/>
            </a:solidFill>
            <a:prstDash val="solid"/>
          </a:ln>
        </p:spPr>
      </p:sp>
      <p:sp>
        <p:nvSpPr>
          <p:cNvPr id="9" name="Text 7"/>
          <p:cNvSpPr/>
          <p:nvPr/>
        </p:nvSpPr>
        <p:spPr>
          <a:xfrm>
            <a:off x="4718050" y="2297311"/>
            <a:ext cx="285165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1A"/>
                </a:solidFill>
                <a:latin typeface="Plus Jakarta Sans" pitchFamily="34" charset="0"/>
                <a:ea typeface="Plus Jakarta Sans" pitchFamily="34" charset="-122"/>
                <a:cs typeface="Plus Jakarta Sans" pitchFamily="34" charset="-120"/>
              </a:rPr>
              <a:t>CV + cover letter</a:t>
            </a:r>
            <a:endParaRPr lang="en-US" sz="1800" dirty="0"/>
          </a:p>
        </p:txBody>
      </p:sp>
      <p:sp>
        <p:nvSpPr>
          <p:cNvPr id="10" name="Text 8"/>
          <p:cNvSpPr/>
          <p:nvPr/>
        </p:nvSpPr>
        <p:spPr>
          <a:xfrm>
            <a:off x="4718050" y="2673152"/>
            <a:ext cx="2851658"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0E5A43"/>
                </a:solidFill>
                <a:latin typeface="Plus Jakarta Sans" pitchFamily="34" charset="0"/>
                <a:ea typeface="Plus Jakarta Sans" pitchFamily="34" charset="-122"/>
                <a:cs typeface="Plus Jakarta Sans" pitchFamily="34" charset="-120"/>
              </a:rPr>
              <a:t>349 </a:t>
            </a:r>
            <a:r>
              <a:rPr lang="en-US" sz="3600" b="1" dirty="0">
                <a:solidFill>
                  <a:srgbClr val="4A5751"/>
                </a:solidFill>
                <a:latin typeface="Plus Jakarta Sans" pitchFamily="34" charset="0"/>
                <a:ea typeface="Plus Jakarta Sans" pitchFamily="34" charset="-122"/>
                <a:cs typeface="Plus Jakarta Sans" pitchFamily="34" charset="-120"/>
              </a:rPr>
              <a:t>birr</a:t>
            </a:r>
            <a:endParaRPr lang="en-US" sz="3600" dirty="0"/>
          </a:p>
        </p:txBody>
      </p:sp>
      <p:sp>
        <p:nvSpPr>
          <p:cNvPr id="11" name="Text 9"/>
          <p:cNvSpPr/>
          <p:nvPr/>
        </p:nvSpPr>
        <p:spPr>
          <a:xfrm>
            <a:off x="4718050" y="3414812"/>
            <a:ext cx="285165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751"/>
                </a:solidFill>
                <a:latin typeface="Plus Jakarta Sans" pitchFamily="34" charset="0"/>
                <a:ea typeface="Plus Jakarta Sans" pitchFamily="34" charset="-122"/>
                <a:cs typeface="Plus Jakarta Sans" pitchFamily="34" charset="-120"/>
              </a:rPr>
              <a:t>Basic CV plus a cover letter to adapt for each job. Ready in 2 days.</a:t>
            </a:r>
            <a:endParaRPr lang="en-US" sz="1300" dirty="0"/>
          </a:p>
        </p:txBody>
      </p:sp>
      <p:sp>
        <p:nvSpPr>
          <p:cNvPr id="12" name="Shape 10"/>
          <p:cNvSpPr/>
          <p:nvPr/>
        </p:nvSpPr>
        <p:spPr>
          <a:xfrm>
            <a:off x="8001000" y="1986161"/>
            <a:ext cx="3378200" cy="2420342"/>
          </a:xfrm>
          <a:prstGeom prst="roundRect">
            <a:avLst>
              <a:gd name="adj" fmla="val 6297"/>
            </a:avLst>
          </a:prstGeom>
          <a:solidFill>
            <a:srgbClr val="0E5A43"/>
          </a:solidFill>
          <a:ln/>
        </p:spPr>
      </p:sp>
      <p:sp>
        <p:nvSpPr>
          <p:cNvPr id="13" name="Text 11"/>
          <p:cNvSpPr/>
          <p:nvPr/>
        </p:nvSpPr>
        <p:spPr>
          <a:xfrm>
            <a:off x="8305800" y="2290961"/>
            <a:ext cx="285165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E"/>
                </a:solidFill>
                <a:latin typeface="Plus Jakarta Sans" pitchFamily="34" charset="0"/>
                <a:ea typeface="Plus Jakarta Sans" pitchFamily="34" charset="-122"/>
                <a:cs typeface="Plus Jakarta Sans" pitchFamily="34" charset="-120"/>
              </a:rPr>
              <a:t>Premium</a:t>
            </a:r>
            <a:endParaRPr lang="en-US" sz="1800" dirty="0"/>
          </a:p>
        </p:txBody>
      </p:sp>
      <p:sp>
        <p:nvSpPr>
          <p:cNvPr id="14" name="Text 12"/>
          <p:cNvSpPr/>
          <p:nvPr/>
        </p:nvSpPr>
        <p:spPr>
          <a:xfrm>
            <a:off x="8305800" y="2666802"/>
            <a:ext cx="2851658"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E39B2D"/>
                </a:solidFill>
                <a:latin typeface="Plus Jakarta Sans" pitchFamily="34" charset="0"/>
                <a:ea typeface="Plus Jakarta Sans" pitchFamily="34" charset="-122"/>
                <a:cs typeface="Plus Jakarta Sans" pitchFamily="34" charset="-120"/>
              </a:rPr>
              <a:t>499 </a:t>
            </a:r>
            <a:r>
              <a:rPr lang="en-US" sz="3600" b="1" dirty="0">
                <a:solidFill>
                  <a:srgbClr val="CFE3D9"/>
                </a:solidFill>
                <a:latin typeface="Plus Jakarta Sans" pitchFamily="34" charset="0"/>
                <a:ea typeface="Plus Jakarta Sans" pitchFamily="34" charset="-122"/>
                <a:cs typeface="Plus Jakarta Sans" pitchFamily="34" charset="-120"/>
              </a:rPr>
              <a:t>birr</a:t>
            </a:r>
            <a:endParaRPr lang="en-US" sz="3600" dirty="0"/>
          </a:p>
        </p:txBody>
      </p:sp>
      <p:sp>
        <p:nvSpPr>
          <p:cNvPr id="15" name="Text 13"/>
          <p:cNvSpPr/>
          <p:nvPr/>
        </p:nvSpPr>
        <p:spPr>
          <a:xfrm>
            <a:off x="8305800" y="3408462"/>
            <a:ext cx="2851658"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3D9"/>
                </a:solidFill>
                <a:latin typeface="Plus Jakarta Sans" pitchFamily="34" charset="0"/>
                <a:ea typeface="Plus Jakarta Sans" pitchFamily="34" charset="-122"/>
                <a:cs typeface="Plus Jakarta Sans" pitchFamily="34" charset="-120"/>
              </a:rPr>
              <a:t>English and Amharic, cover letter, profile text, 2 rounds of changes. 3 days.</a:t>
            </a:r>
            <a:endParaRPr lang="en-US" sz="1300" dirty="0"/>
          </a:p>
        </p:txBody>
      </p:sp>
      <p:sp>
        <p:nvSpPr>
          <p:cNvPr id="16" name="Text 14"/>
          <p:cNvSpPr/>
          <p:nvPr/>
        </p:nvSpPr>
        <p:spPr>
          <a:xfrm>
            <a:off x="812800" y="476210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751"/>
                </a:solidFill>
                <a:latin typeface="Plus Jakarta Sans" pitchFamily="34" charset="0"/>
                <a:ea typeface="Plus Jakarta Sans" pitchFamily="34" charset="-122"/>
                <a:cs typeface="Plus Jakarta Sans" pitchFamily="34" charset="-120"/>
              </a:rPr>
              <a:t>Part-time writers are paid per CV, so the service costs nothing when there are no orders.</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36C"/>
                </a:solidFill>
                <a:latin typeface="Plus Jakarta Sans" pitchFamily="34" charset="0"/>
                <a:ea typeface="Plus Jakarta Sans" pitchFamily="34" charset="-122"/>
                <a:cs typeface="Plus Jakarta Sans" pitchFamily="34" charset="-120"/>
              </a:rPr>
              <a:t>Sodo Gebeya · System overview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39B2D"/>
        </a:solidFill>
      </p:bgPr>
    </p:bg>
    <p:spTree>
      <p:nvGrpSpPr>
        <p:cNvPr id="1" name=""/>
        <p:cNvGrpSpPr/>
        <p:nvPr/>
      </p:nvGrpSpPr>
      <p:grpSpPr>
        <a:xfrm>
          <a:off x="0" y="0"/>
          <a:ext cx="0" cy="0"/>
          <a:chOff x="0" y="0"/>
          <a:chExt cx="0" cy="0"/>
        </a:xfrm>
      </p:grpSpPr>
      <p:sp>
        <p:nvSpPr>
          <p:cNvPr id="2" name="Text 0"/>
          <p:cNvSpPr/>
          <p:nvPr/>
        </p:nvSpPr>
        <p:spPr>
          <a:xfrm>
            <a:off x="812800" y="193049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13201A"/>
                </a:solidFill>
                <a:latin typeface="Plus Jakarta Sans" pitchFamily="34" charset="0"/>
                <a:ea typeface="Plus Jakarta Sans" pitchFamily="34" charset="-122"/>
                <a:cs typeface="Plus Jakarta Sans" pitchFamily="34" charset="-120"/>
              </a:rPr>
              <a:t>HOW IT MAKES MONEY</a:t>
            </a:r>
            <a:endParaRPr lang="en-US" sz="1400" dirty="0"/>
          </a:p>
        </p:txBody>
      </p:sp>
      <p:sp>
        <p:nvSpPr>
          <p:cNvPr id="3" name="Text 1"/>
          <p:cNvSpPr/>
          <p:nvPr>
            <p:ph type="title"/>
          </p:nvPr>
        </p:nvSpPr>
        <p:spPr>
          <a:xfrm>
            <a:off x="812800" y="243334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spc="-150" kern="0" dirty="0">
                <a:solidFill>
                  <a:srgbClr val="13201A"/>
                </a:solidFill>
                <a:latin typeface="Plus Jakarta Sans" pitchFamily="34" charset="0"/>
                <a:ea typeface="Plus Jakarta Sans" pitchFamily="34" charset="-122"/>
                <a:cs typeface="Plus Jakarta Sans" pitchFamily="34" charset="-120"/>
              </a:rPr>
              <a:t>Sellers pay.</a:t>
            </a:r>
            <a:endParaRPr lang="en-US" sz="6000" dirty="0"/>
          </a:p>
          <a:p>
            <a:pPr algn="l" indent="0" marL="0">
              <a:lnSpc>
                <a:spcPts val="6300"/>
              </a:lnSpc>
              <a:buNone/>
            </a:pPr>
            <a:r>
              <a:rPr lang="en-US" sz="6000" b="1" i="0" spc="-150" kern="0" dirty="0">
                <a:solidFill>
                  <a:srgbClr val="13201A"/>
                </a:solidFill>
                <a:latin typeface="Plus Jakarta Sans" pitchFamily="34" charset="0"/>
                <a:ea typeface="Plus Jakarta Sans" pitchFamily="34" charset="-122"/>
                <a:cs typeface="Plus Jakarta Sans" pitchFamily="34" charset="-120"/>
              </a:rPr>
              <a:t>Buyers are always free.</a:t>
            </a:r>
            <a:endParaRPr lang="en-US" sz="6000" dirty="0"/>
          </a:p>
        </p:txBody>
      </p:sp>
      <p:sp>
        <p:nvSpPr>
          <p:cNvPr id="4" name="Text 2"/>
          <p:cNvSpPr/>
          <p:nvPr/>
        </p:nvSpPr>
        <p:spPr>
          <a:xfrm>
            <a:off x="812800" y="4287540"/>
            <a:ext cx="850265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B2410"/>
                </a:solidFill>
                <a:latin typeface="Plus Jakarta Sans" pitchFamily="34" charset="0"/>
                <a:ea typeface="Plus Jakarta Sans" pitchFamily="34" charset="-122"/>
                <a:cs typeface="Plus Jakarta Sans" pitchFamily="34" charset="-120"/>
              </a:rPr>
              <a:t>Every seller can start free. When they want to post every day and be seen more, they choose a plan from 299 birr a month.</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590F"/>
                </a:solidFill>
                <a:latin typeface="Plus Jakarta Sans" pitchFamily="34" charset="0"/>
                <a:ea typeface="Plus Jakarta Sans" pitchFamily="34" charset="-122"/>
                <a:cs typeface="Plus Jakarta Sans" pitchFamily="34" charset="-120"/>
              </a:rPr>
              <a:t>SELLER PLANS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3201A"/>
                </a:solidFill>
                <a:latin typeface="Plus Jakarta Sans" pitchFamily="34" charset="0"/>
                <a:ea typeface="Plus Jakarta Sans" pitchFamily="34" charset="-122"/>
                <a:cs typeface="Plus Jakarta Sans" pitchFamily="34" charset="-120"/>
              </a:rPr>
              <a:t>Four plans, more at each step</a:t>
            </a:r>
            <a:endParaRPr lang="en-US" sz="3600" dirty="0"/>
          </a:p>
        </p:txBody>
      </p:sp>
      <p:sp>
        <p:nvSpPr>
          <p:cNvPr id="4" name="Shape 2"/>
          <p:cNvSpPr/>
          <p:nvPr/>
        </p:nvSpPr>
        <p:spPr>
          <a:xfrm>
            <a:off x="812800" y="1935361"/>
            <a:ext cx="10566400" cy="3611761"/>
          </a:xfrm>
          <a:prstGeom prst="roundRect">
            <a:avLst>
              <a:gd name="adj" fmla="val 2813"/>
            </a:avLst>
          </a:prstGeom>
          <a:solidFill>
            <a:srgbClr val="FFFEFA"/>
          </a:solidFill>
          <a:ln/>
        </p:spPr>
      </p:sp>
      <p:sp>
        <p:nvSpPr>
          <p:cNvPr id="5" name="Shape 3"/>
          <p:cNvSpPr/>
          <p:nvPr/>
        </p:nvSpPr>
        <p:spPr>
          <a:xfrm>
            <a:off x="812800" y="1935361"/>
            <a:ext cx="10566400" cy="3611761"/>
          </a:xfrm>
          <a:custGeom>
            <a:avLst/>
            <a:gdLst/>
            <a:ahLst/>
            <a:cxnLst/>
            <a:rect l="l" t="t" r="r" b="b"/>
            <a:pathLst>
              <a:path w="10566400" h="3611761">
                <a:moveTo>
                  <a:pt x="10464800" y="0"/>
                </a:moveTo>
                <a:lnTo>
                  <a:pt x="10464800" y="0"/>
                </a:lnTo>
                <a:arcTo hR="101600" wR="101600" stAng="16200000" swAng="5400000"/>
                <a:lnTo>
                  <a:pt x="10566400" y="3510161"/>
                </a:lnTo>
                <a:arcTo hR="101600" wR="101600" stAng="0" swAng="5400000"/>
                <a:lnTo>
                  <a:pt x="101600" y="3611761"/>
                </a:lnTo>
                <a:arcTo hR="101600" wR="101600" stAng="5400000" swAng="5400000"/>
                <a:lnTo>
                  <a:pt x="0" y="3510161"/>
                </a:lnTo>
                <a:arcTo hR="95250" wR="101600" stAng="10800000" swAng="-5400000"/>
                <a:lnTo>
                  <a:pt x="10464800" y="3605411"/>
                </a:lnTo>
                <a:arcTo hR="95250" wR="95250" stAng="5400000" swAng="-5400000"/>
                <a:lnTo>
                  <a:pt x="10560050" y="101600"/>
                </a:lnTo>
                <a:arcTo hR="101600" wR="95250" stAng="0" swAng="-5400000"/>
                <a:close/>
              </a:path>
            </a:pathLst>
          </a:custGeom>
          <a:solidFill>
            <a:srgbClr val="E2DED3"/>
          </a:solidFill>
          <a:ln/>
        </p:spPr>
      </p:sp>
      <p:sp>
        <p:nvSpPr>
          <p:cNvPr id="6" name="Shape 4"/>
          <p:cNvSpPr/>
          <p:nvPr/>
        </p:nvSpPr>
        <p:spPr>
          <a:xfrm>
            <a:off x="812800" y="1935361"/>
            <a:ext cx="10566400" cy="3611761"/>
          </a:xfrm>
          <a:custGeom>
            <a:avLst/>
            <a:gdLst/>
            <a:ahLst/>
            <a:cxnLst/>
            <a:rect l="l" t="t" r="r" b="b"/>
            <a:pathLst>
              <a:path w="10566400" h="3611761">
                <a:moveTo>
                  <a:pt x="101600" y="3611761"/>
                </a:moveTo>
                <a:lnTo>
                  <a:pt x="101600" y="3611761"/>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3510161"/>
                </a:lnTo>
                <a:arcTo hR="101600" wR="889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948061"/>
          <a:ext cx="10547350" cy="3592711"/>
        </p:xfrm>
        <a:graphic>
          <a:graphicData uri="http://schemas.openxmlformats.org/drawingml/2006/table">
            <a:tbl>
              <a:tblPr/>
              <a:tblGrid>
                <a:gridCol w="3375152"/>
                <a:gridCol w="1793050"/>
                <a:gridCol w="1793050"/>
                <a:gridCol w="1793050"/>
                <a:gridCol w="1793050"/>
              </a:tblGrid>
              <a:tr h="359271">
                <a:tc>
                  <a:txBody>
                    <a:bodyPr/>
                    <a:lstStyle/>
                    <a:p>
                      <a:pPr indent="0" marL="0">
                        <a:lnSpc>
                          <a:spcPts val="1820"/>
                        </a:lnSpc>
                        <a:buNone/>
                      </a:pPr>
                      <a:r>
                        <a:rPr lang="en-US" sz="1300" b="1" dirty="0">
                          <a:solidFill>
                            <a:srgbClr val="F6F4EE"/>
                          </a:solidFill>
                          <a:latin typeface="Plus Jakarta Sans" pitchFamily="34" charset="0"/>
                          <a:ea typeface="Plus Jakarta Sans" pitchFamily="34" charset="-122"/>
                          <a:cs typeface="Plus Jakarta Sans" pitchFamily="34" charset="-120"/>
                        </a:rPr>
                        <a:t>Per month</a:t>
                      </a:r>
                      <a:endParaRPr lang="en-US" sz="1300" dirty="0">
                        <a:latin typeface="Plus Jakarta Sans" charset="0"/>
                        <a:ea typeface="Plus Jakarta Sans" charset="0"/>
                        <a:cs typeface="Plus Jakarta Sans" charset="0"/>
                      </a:endParaRPr>
                    </a:p>
                  </a:txBody>
                  <a:tcPr marL="57785" marR="57785" marT="57785" marB="57785" anchor="t">
                    <a:lnL w="0" cap="flat" cmpd="sng" algn="ctr">
                      <a:noFill/>
                    </a:lnL>
                    <a:lnR w="12700" cap="flat" cmpd="sng" algn="ctr">
                      <a:solidFill>
                        <a:srgbClr val="0F4B38"/>
                      </a:solidFill>
                      <a:prstDash val="solid"/>
                      <a:round/>
                      <a:headEnd type="none" w="med" len="med"/>
                      <a:tailEnd type="none" w="med" len="med"/>
                    </a:lnR>
                    <a:lnT w="0" cap="flat" cmpd="sng" algn="ctr">
                      <a:noFill/>
                    </a:lnT>
                    <a:lnB w="12700" cap="flat" cmpd="sng" algn="ctr">
                      <a:solidFill>
                        <a:srgbClr val="0F4B38"/>
                      </a:solidFill>
                      <a:prstDash val="solid"/>
                      <a:round/>
                      <a:headEnd type="none" w="med" len="med"/>
                      <a:tailEnd type="none" w="med" len="med"/>
                    </a:lnB>
                    <a:solidFill>
                      <a:srgbClr val="0E5A43"/>
                    </a:solidFill>
                  </a:tcPr>
                </a:tc>
                <a:tc>
                  <a:txBody>
                    <a:bodyPr/>
                    <a:lstStyle/>
                    <a:p>
                      <a:pPr algn="ctr" indent="0" marL="0">
                        <a:lnSpc>
                          <a:spcPts val="1820"/>
                        </a:lnSpc>
                        <a:buNone/>
                      </a:pPr>
                      <a:r>
                        <a:rPr lang="en-US" sz="1300" b="1" dirty="0">
                          <a:solidFill>
                            <a:srgbClr val="F6F4EE"/>
                          </a:solidFill>
                          <a:latin typeface="Plus Jakarta Sans" pitchFamily="34" charset="0"/>
                          <a:ea typeface="Plus Jakarta Sans" pitchFamily="34" charset="-122"/>
                          <a:cs typeface="Plus Jakarta Sans" pitchFamily="34" charset="-120"/>
                        </a:rPr>
                        <a:t>Free · 0</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0F4B38"/>
                      </a:solidFill>
                      <a:prstDash val="solid"/>
                      <a:round/>
                      <a:headEnd type="none" w="med" len="med"/>
                      <a:tailEnd type="none" w="med" len="med"/>
                    </a:lnL>
                    <a:lnR w="12700" cap="flat" cmpd="sng" algn="ctr">
                      <a:solidFill>
                        <a:srgbClr val="0F4B38"/>
                      </a:solidFill>
                      <a:prstDash val="solid"/>
                      <a:round/>
                      <a:headEnd type="none" w="med" len="med"/>
                      <a:tailEnd type="none" w="med" len="med"/>
                    </a:lnR>
                    <a:lnT w="0" cap="flat" cmpd="sng" algn="ctr">
                      <a:noFill/>
                    </a:lnT>
                    <a:lnB w="12700" cap="flat" cmpd="sng" algn="ctr">
                      <a:solidFill>
                        <a:srgbClr val="0F4B38"/>
                      </a:solidFill>
                      <a:prstDash val="solid"/>
                      <a:round/>
                      <a:headEnd type="none" w="med" len="med"/>
                      <a:tailEnd type="none" w="med" len="med"/>
                    </a:lnB>
                    <a:solidFill>
                      <a:srgbClr val="0E5A43"/>
                    </a:solidFill>
                  </a:tcPr>
                </a:tc>
                <a:tc>
                  <a:txBody>
                    <a:bodyPr/>
                    <a:lstStyle/>
                    <a:p>
                      <a:pPr algn="ctr" indent="0" marL="0">
                        <a:lnSpc>
                          <a:spcPts val="1820"/>
                        </a:lnSpc>
                        <a:buNone/>
                      </a:pPr>
                      <a:r>
                        <a:rPr lang="en-US" sz="1300" b="1" dirty="0">
                          <a:solidFill>
                            <a:srgbClr val="F6F4EE"/>
                          </a:solidFill>
                          <a:latin typeface="Plus Jakarta Sans" pitchFamily="34" charset="0"/>
                          <a:ea typeface="Plus Jakarta Sans" pitchFamily="34" charset="-122"/>
                          <a:cs typeface="Plus Jakarta Sans" pitchFamily="34" charset="-120"/>
                        </a:rPr>
                        <a:t>Seller · 299</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0F4B38"/>
                      </a:solidFill>
                      <a:prstDash val="solid"/>
                      <a:round/>
                      <a:headEnd type="none" w="med" len="med"/>
                      <a:tailEnd type="none" w="med" len="med"/>
                    </a:lnL>
                    <a:lnR w="12700" cap="flat" cmpd="sng" algn="ctr">
                      <a:solidFill>
                        <a:srgbClr val="0F4B38"/>
                      </a:solidFill>
                      <a:prstDash val="solid"/>
                      <a:round/>
                      <a:headEnd type="none" w="med" len="med"/>
                      <a:tailEnd type="none" w="med" len="med"/>
                    </a:lnR>
                    <a:lnT w="0" cap="flat" cmpd="sng" algn="ctr">
                      <a:noFill/>
                    </a:lnT>
                    <a:lnB w="12700" cap="flat" cmpd="sng" algn="ctr">
                      <a:solidFill>
                        <a:srgbClr val="0F4B38"/>
                      </a:solidFill>
                      <a:prstDash val="solid"/>
                      <a:round/>
                      <a:headEnd type="none" w="med" len="med"/>
                      <a:tailEnd type="none" w="med" len="med"/>
                    </a:lnB>
                    <a:solidFill>
                      <a:srgbClr val="0E5A43"/>
                    </a:solidFill>
                  </a:tcPr>
                </a:tc>
                <a:tc>
                  <a:txBody>
                    <a:bodyPr/>
                    <a:lstStyle/>
                    <a:p>
                      <a:pPr algn="ctr" indent="0" marL="0">
                        <a:lnSpc>
                          <a:spcPts val="1820"/>
                        </a:lnSpc>
                        <a:buNone/>
                      </a:pPr>
                      <a:r>
                        <a:rPr lang="en-US" sz="1300" b="1" dirty="0">
                          <a:solidFill>
                            <a:srgbClr val="E39B2D"/>
                          </a:solidFill>
                          <a:latin typeface="Plus Jakarta Sans" pitchFamily="34" charset="0"/>
                          <a:ea typeface="Plus Jakarta Sans" pitchFamily="34" charset="-122"/>
                          <a:cs typeface="Plus Jakarta Sans" pitchFamily="34" charset="-120"/>
                        </a:rPr>
                        <a:t>Pro · 599</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0F4B38"/>
                      </a:solidFill>
                      <a:prstDash val="solid"/>
                      <a:round/>
                      <a:headEnd type="none" w="med" len="med"/>
                      <a:tailEnd type="none" w="med" len="med"/>
                    </a:lnL>
                    <a:lnR w="12700" cap="flat" cmpd="sng" algn="ctr">
                      <a:solidFill>
                        <a:srgbClr val="0F4B38"/>
                      </a:solidFill>
                      <a:prstDash val="solid"/>
                      <a:round/>
                      <a:headEnd type="none" w="med" len="med"/>
                      <a:tailEnd type="none" w="med" len="med"/>
                    </a:lnR>
                    <a:lnT w="0" cap="flat" cmpd="sng" algn="ctr">
                      <a:noFill/>
                    </a:lnT>
                    <a:lnB w="12700" cap="flat" cmpd="sng" algn="ctr">
                      <a:solidFill>
                        <a:srgbClr val="0F4B38"/>
                      </a:solidFill>
                      <a:prstDash val="solid"/>
                      <a:round/>
                      <a:headEnd type="none" w="med" len="med"/>
                      <a:tailEnd type="none" w="med" len="med"/>
                    </a:lnB>
                    <a:solidFill>
                      <a:srgbClr val="0E5A43"/>
                    </a:solidFill>
                  </a:tcPr>
                </a:tc>
                <a:tc>
                  <a:txBody>
                    <a:bodyPr/>
                    <a:lstStyle/>
                    <a:p>
                      <a:pPr algn="ctr" indent="0" marL="0">
                        <a:lnSpc>
                          <a:spcPts val="1820"/>
                        </a:lnSpc>
                        <a:buNone/>
                      </a:pPr>
                      <a:r>
                        <a:rPr lang="en-US" sz="1300" b="1" dirty="0">
                          <a:solidFill>
                            <a:srgbClr val="F6F4EE"/>
                          </a:solidFill>
                          <a:latin typeface="Plus Jakarta Sans" pitchFamily="34" charset="0"/>
                          <a:ea typeface="Plus Jakarta Sans" pitchFamily="34" charset="-122"/>
                          <a:cs typeface="Plus Jakarta Sans" pitchFamily="34" charset="-120"/>
                        </a:rPr>
                        <a:t>Business · 999</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0F4B38"/>
                      </a:solidFill>
                      <a:prstDash val="solid"/>
                      <a:round/>
                      <a:headEnd type="none" w="med" len="med"/>
                      <a:tailEnd type="none" w="med" len="med"/>
                    </a:lnL>
                    <a:lnR w="12700" cap="flat" cmpd="sng" algn="ctr">
                      <a:solidFill>
                        <a:srgbClr val="0F4B38"/>
                      </a:solidFill>
                      <a:prstDash val="solid"/>
                      <a:round/>
                      <a:headEnd type="none" w="med" len="med"/>
                      <a:tailEnd type="none" w="med" len="med"/>
                    </a:lnR>
                    <a:lnT w="0" cap="flat" cmpd="sng" algn="ctr">
                      <a:noFill/>
                    </a:lnT>
                    <a:lnB w="12700" cap="flat" cmpd="sng" algn="ctr">
                      <a:solidFill>
                        <a:srgbClr val="0F4B38"/>
                      </a:solidFill>
                      <a:prstDash val="solid"/>
                      <a:round/>
                      <a:headEnd type="none" w="med" len="med"/>
                      <a:tailEnd type="none" w="med" len="med"/>
                    </a:lnB>
                    <a:solidFill>
                      <a:srgbClr val="0E5A43"/>
                    </a:solidFill>
                  </a:tcPr>
                </a:tc>
              </a:tr>
              <a:tr h="359271">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Pay yearly (2 months free)</a:t>
                      </a:r>
                      <a:endParaRPr lang="en-US" sz="1300" dirty="0">
                        <a:latin typeface="Plus Jakarta Sans" charset="0"/>
                        <a:ea typeface="Plus Jakarta Sans" charset="0"/>
                        <a:cs typeface="Plus Jakarta Sans" charset="0"/>
                      </a:endParaRPr>
                    </a:p>
                  </a:txBody>
                  <a:tcPr marL="57785" marR="57785" marT="57785" marB="57785" anchor="t">
                    <a:lnL w="0" cap="flat" cmpd="sng" algn="ctr">
                      <a:noFill/>
                    </a:lnL>
                    <a:lnR w="12700" cap="flat" cmpd="sng" algn="ctr">
                      <a:solidFill>
                        <a:srgbClr val="CBCBC7"/>
                      </a:solidFill>
                      <a:prstDash val="solid"/>
                      <a:round/>
                      <a:headEnd type="none" w="med" len="med"/>
                      <a:tailEnd type="none" w="med" len="med"/>
                    </a:lnR>
                    <a:lnT w="12700" cap="flat" cmpd="sng" algn="ctr">
                      <a:solidFill>
                        <a:srgbClr val="0F4B38"/>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0F4B38"/>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2,990</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0F4B38"/>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5,990</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0F4B38"/>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9,990</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0F4B38"/>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r>
              <a:tr h="359271">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New posts</a:t>
                      </a:r>
                      <a:endParaRPr lang="en-US" sz="1300" dirty="0">
                        <a:latin typeface="Plus Jakarta Sans" charset="0"/>
                        <a:ea typeface="Plus Jakarta Sans" charset="0"/>
                        <a:cs typeface="Plus Jakarta Sans" charset="0"/>
                      </a:endParaRPr>
                    </a:p>
                  </a:txBody>
                  <a:tcPr marL="57785" marR="57785" marT="57785" marB="57785" anchor="t">
                    <a:lnL w="0" cap="flat" cmpd="sng" algn="ctr">
                      <a:noFill/>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3 a week</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0BEB7"/>
                      </a:solidFill>
                      <a:prstDash val="solid"/>
                      <a:round/>
                      <a:headEnd type="none" w="med" len="med"/>
                      <a:tailEnd type="none" w="med" len="med"/>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Every day</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0BEB7"/>
                      </a:solidFill>
                      <a:prstDash val="solid"/>
                      <a:round/>
                      <a:headEnd type="none" w="med" len="med"/>
                      <a:tailEnd type="none" w="med" len="med"/>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No limit</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0BEB7"/>
                      </a:solidFill>
                      <a:prstDash val="solid"/>
                      <a:round/>
                      <a:headEnd type="none" w="med" len="med"/>
                      <a:tailEnd type="none" w="med" len="med"/>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No limit</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0BEB7"/>
                      </a:solidFill>
                      <a:prstDash val="solid"/>
                      <a:round/>
                      <a:headEnd type="none" w="med" len="med"/>
                      <a:tailEnd type="none" w="med" len="med"/>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r>
              <a:tr h="359271">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Items for sale at once</a:t>
                      </a:r>
                      <a:endParaRPr lang="en-US" sz="1300" dirty="0">
                        <a:latin typeface="Plus Jakarta Sans" charset="0"/>
                        <a:ea typeface="Plus Jakarta Sans" charset="0"/>
                        <a:cs typeface="Plus Jakarta Sans" charset="0"/>
                      </a:endParaRPr>
                    </a:p>
                  </a:txBody>
                  <a:tcPr marL="57785" marR="57785" marT="57785" marB="57785" anchor="t">
                    <a:lnL w="0" cap="flat" cmpd="sng" algn="ctr">
                      <a:noFill/>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10</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50</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200</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No limit</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r>
              <a:tr h="359271">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Verified badge and shop logo</a:t>
                      </a:r>
                      <a:endParaRPr lang="en-US" sz="1300" dirty="0">
                        <a:latin typeface="Plus Jakarta Sans" charset="0"/>
                        <a:ea typeface="Plus Jakarta Sans" charset="0"/>
                        <a:cs typeface="Plus Jakarta Sans" charset="0"/>
                      </a:endParaRPr>
                    </a:p>
                  </a:txBody>
                  <a:tcPr marL="57785" marR="57785" marT="57785" marB="57785" anchor="t">
                    <a:lnL w="0" cap="flat" cmpd="sng" algn="ctr">
                      <a:noFill/>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No</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0BEB7"/>
                      </a:solidFill>
                      <a:prstDash val="solid"/>
                      <a:round/>
                      <a:headEnd type="none" w="med" len="med"/>
                      <a:tailEnd type="none" w="med" len="med"/>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Yes</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0BEB7"/>
                      </a:solidFill>
                      <a:prstDash val="solid"/>
                      <a:round/>
                      <a:headEnd type="none" w="med" len="med"/>
                      <a:tailEnd type="none" w="med" len="med"/>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Yes</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0BEB7"/>
                      </a:solidFill>
                      <a:prstDash val="solid"/>
                      <a:round/>
                      <a:headEnd type="none" w="med" len="med"/>
                      <a:tailEnd type="none" w="med" len="med"/>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Yes</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0BEB7"/>
                      </a:solidFill>
                      <a:prstDash val="solid"/>
                      <a:round/>
                      <a:headEnd type="none" w="med" len="med"/>
                      <a:tailEnd type="none" w="med" len="med"/>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r>
              <a:tr h="359271">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Boosts to the top a month</a:t>
                      </a:r>
                      <a:endParaRPr lang="en-US" sz="1300" dirty="0">
                        <a:latin typeface="Plus Jakarta Sans" charset="0"/>
                        <a:ea typeface="Plus Jakarta Sans" charset="0"/>
                        <a:cs typeface="Plus Jakarta Sans" charset="0"/>
                      </a:endParaRPr>
                    </a:p>
                  </a:txBody>
                  <a:tcPr marL="57785" marR="57785" marT="57785" marB="57785" anchor="t">
                    <a:lnL w="0" cap="flat" cmpd="sng" algn="ctr">
                      <a:noFill/>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0</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1</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4</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10</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r>
              <a:tr h="359271">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Monthly report</a:t>
                      </a:r>
                      <a:endParaRPr lang="en-US" sz="1300" dirty="0">
                        <a:latin typeface="Plus Jakarta Sans" charset="0"/>
                        <a:ea typeface="Plus Jakarta Sans" charset="0"/>
                        <a:cs typeface="Plus Jakarta Sans" charset="0"/>
                      </a:endParaRPr>
                    </a:p>
                  </a:txBody>
                  <a:tcPr marL="57785" marR="57785" marT="57785" marB="57785" anchor="t">
                    <a:lnL w="0" cap="flat" cmpd="sng" algn="ctr">
                      <a:noFill/>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No</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0BEB7"/>
                      </a:solidFill>
                      <a:prstDash val="solid"/>
                      <a:round/>
                      <a:headEnd type="none" w="med" len="med"/>
                      <a:tailEnd type="none" w="med" len="med"/>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Basic</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0BEB7"/>
                      </a:solidFill>
                      <a:prstDash val="solid"/>
                      <a:round/>
                      <a:headEnd type="none" w="med" len="med"/>
                      <a:tailEnd type="none" w="med" len="med"/>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Full</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0BEB7"/>
                      </a:solidFill>
                      <a:prstDash val="solid"/>
                      <a:round/>
                      <a:headEnd type="none" w="med" len="med"/>
                      <a:tailEnd type="none" w="med" len="med"/>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Full + Excel</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0BEB7"/>
                      </a:solidFill>
                      <a:prstDash val="solid"/>
                      <a:round/>
                      <a:headEnd type="none" w="med" len="med"/>
                      <a:tailEnd type="none" w="med" len="med"/>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r>
              <a:tr h="359271">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Higher in search</a:t>
                      </a:r>
                      <a:endParaRPr lang="en-US" sz="1300" dirty="0">
                        <a:latin typeface="Plus Jakarta Sans" charset="0"/>
                        <a:ea typeface="Plus Jakarta Sans" charset="0"/>
                        <a:cs typeface="Plus Jakarta Sans" charset="0"/>
                      </a:endParaRPr>
                    </a:p>
                  </a:txBody>
                  <a:tcPr marL="57785" marR="57785" marT="57785" marB="57785" anchor="t">
                    <a:lnL w="0" cap="flat" cmpd="sng" algn="ctr">
                      <a:noFill/>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No</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No</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Yes</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Highest</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r>
              <a:tr h="359271">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Shared to our Telegram</a:t>
                      </a:r>
                      <a:endParaRPr lang="en-US" sz="1300" dirty="0">
                        <a:latin typeface="Plus Jakarta Sans" charset="0"/>
                        <a:ea typeface="Plus Jakarta Sans" charset="0"/>
                        <a:cs typeface="Plus Jakarta Sans" charset="0"/>
                      </a:endParaRPr>
                    </a:p>
                  </a:txBody>
                  <a:tcPr marL="57785" marR="57785" marT="57785" marB="57785" anchor="t">
                    <a:lnL w="0" cap="flat" cmpd="sng" algn="ctr">
                      <a:noFill/>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No</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0BEB7"/>
                      </a:solidFill>
                      <a:prstDash val="solid"/>
                      <a:round/>
                      <a:headEnd type="none" w="med" len="med"/>
                      <a:tailEnd type="none" w="med" len="med"/>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No</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0BEB7"/>
                      </a:solidFill>
                      <a:prstDash val="solid"/>
                      <a:round/>
                      <a:headEnd type="none" w="med" len="med"/>
                      <a:tailEnd type="none" w="med" len="med"/>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Yes</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0BEB7"/>
                      </a:solidFill>
                      <a:prstDash val="solid"/>
                      <a:round/>
                      <a:headEnd type="none" w="med" len="med"/>
                      <a:tailEnd type="none" w="med" len="med"/>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Yes</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0BEB7"/>
                      </a:solidFill>
                      <a:prstDash val="solid"/>
                      <a:round/>
                      <a:headEnd type="none" w="med" len="med"/>
                      <a:tailEnd type="none" w="med" len="med"/>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r>
              <a:tr h="359271">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Featured on home page</a:t>
                      </a:r>
                      <a:endParaRPr lang="en-US" sz="1300" dirty="0">
                        <a:latin typeface="Plus Jakarta Sans" charset="0"/>
                        <a:ea typeface="Plus Jakarta Sans" charset="0"/>
                        <a:cs typeface="Plus Jakarta Sans" charset="0"/>
                      </a:endParaRPr>
                    </a:p>
                  </a:txBody>
                  <a:tcPr marL="57785" marR="57785" marT="57785" marB="57785" anchor="t">
                    <a:lnL w="0" cap="flat" cmpd="sng" algn="ctr">
                      <a:noFill/>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No</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No</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No</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ct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1 week a month</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r>
            </a:tbl>
          </a:graphicData>
        </a:graphic>
      </p:graphicFrame>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36C"/>
                </a:solidFill>
                <a:latin typeface="Plus Jakarta Sans" pitchFamily="34" charset="0"/>
                <a:ea typeface="Plus Jakarta Sans" pitchFamily="34" charset="-122"/>
                <a:cs typeface="Plus Jakarta Sans" pitchFamily="34" charset="-120"/>
              </a:rPr>
              <a:t>Sodo Gebeya · System overview · 14 · Prices in birr. All plans include chat and reviews.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590F"/>
                </a:solidFill>
                <a:latin typeface="Plus Jakarta Sans" pitchFamily="34" charset="0"/>
                <a:ea typeface="Plus Jakarta Sans" pitchFamily="34" charset="-122"/>
                <a:cs typeface="Plus Jakarta Sans" pitchFamily="34" charset="-120"/>
              </a:rPr>
              <a:t>LAUNCH OFFERS AND OTHER INCOME</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3201A"/>
                </a:solidFill>
                <a:latin typeface="Plus Jakarta Sans" pitchFamily="34" charset="0"/>
                <a:ea typeface="Plus Jakarta Sans" pitchFamily="34" charset="-122"/>
                <a:cs typeface="Plus Jakarta Sans" pitchFamily="34" charset="-120"/>
              </a:rPr>
              <a:t>Start free, then earn from more than plans</a:t>
            </a:r>
            <a:endParaRPr lang="en-US" sz="3600" dirty="0"/>
          </a:p>
        </p:txBody>
      </p:sp>
      <p:sp>
        <p:nvSpPr>
          <p:cNvPr id="4" name="Shape 2"/>
          <p:cNvSpPr/>
          <p:nvPr/>
        </p:nvSpPr>
        <p:spPr>
          <a:xfrm>
            <a:off x="812800" y="1986161"/>
            <a:ext cx="5175250" cy="3191867"/>
          </a:xfrm>
          <a:prstGeom prst="roundRect">
            <a:avLst>
              <a:gd name="adj" fmla="val 4775"/>
            </a:avLst>
          </a:prstGeom>
          <a:solidFill>
            <a:srgbClr val="0E5A43"/>
          </a:solidFill>
          <a:ln/>
        </p:spPr>
      </p:sp>
      <p:sp>
        <p:nvSpPr>
          <p:cNvPr id="5" name="Text 3"/>
          <p:cNvSpPr/>
          <p:nvPr/>
        </p:nvSpPr>
        <p:spPr>
          <a:xfrm>
            <a:off x="1117600" y="2290961"/>
            <a:ext cx="470262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39B2D"/>
                </a:solidFill>
                <a:latin typeface="Plus Jakarta Sans" pitchFamily="34" charset="0"/>
                <a:ea typeface="Plus Jakarta Sans" pitchFamily="34" charset="-122"/>
                <a:cs typeface="Plus Jakarta Sans" pitchFamily="34" charset="-120"/>
              </a:rPr>
              <a:t>Launch offers</a:t>
            </a:r>
            <a:endParaRPr lang="en-US" sz="1800" dirty="0"/>
          </a:p>
        </p:txBody>
      </p:sp>
      <p:sp>
        <p:nvSpPr>
          <p:cNvPr id="6" name="Text 4"/>
          <p:cNvSpPr/>
          <p:nvPr/>
        </p:nvSpPr>
        <p:spPr>
          <a:xfrm>
            <a:off x="1117600" y="2692202"/>
            <a:ext cx="47026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4EE"/>
                </a:solidFill>
                <a:latin typeface="Plus Jakarta Sans" pitchFamily="34" charset="0"/>
                <a:ea typeface="Plus Jakarta Sans" pitchFamily="34" charset="-122"/>
                <a:cs typeface="Plus Jakarta Sans" pitchFamily="34" charset="-120"/>
              </a:rPr>
              <a:t>Pro free for 3 months</a:t>
            </a:r>
            <a:endParaRPr lang="en-US" sz="1500" dirty="0"/>
          </a:p>
        </p:txBody>
      </p:sp>
      <p:sp>
        <p:nvSpPr>
          <p:cNvPr id="7" name="Text 5"/>
          <p:cNvSpPr/>
          <p:nvPr/>
        </p:nvSpPr>
        <p:spPr>
          <a:xfrm>
            <a:off x="1117600" y="3009702"/>
            <a:ext cx="470262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3D9"/>
                </a:solidFill>
                <a:latin typeface="Plus Jakarta Sans" pitchFamily="34" charset="0"/>
                <a:ea typeface="Plus Jakarta Sans" pitchFamily="34" charset="-122"/>
                <a:cs typeface="Plus Jakarta Sans" pitchFamily="34" charset="-120"/>
              </a:rPr>
              <a:t>For every verified shop, plus a Founding Seller badge.</a:t>
            </a:r>
            <a:endParaRPr lang="en-US" sz="1300" dirty="0"/>
          </a:p>
        </p:txBody>
      </p:sp>
      <p:sp>
        <p:nvSpPr>
          <p:cNvPr id="8" name="Text 6"/>
          <p:cNvSpPr/>
          <p:nvPr/>
        </p:nvSpPr>
        <p:spPr>
          <a:xfrm>
            <a:off x="1117600" y="3367782"/>
            <a:ext cx="47026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4EE"/>
                </a:solidFill>
                <a:latin typeface="Plus Jakarta Sans" pitchFamily="34" charset="0"/>
                <a:ea typeface="Plus Jakarta Sans" pitchFamily="34" charset="-122"/>
                <a:cs typeface="Plus Jakarta Sans" pitchFamily="34" charset="-120"/>
              </a:rPr>
              <a:t>25% off for the first 30 payers</a:t>
            </a:r>
            <a:endParaRPr lang="en-US" sz="1500" dirty="0"/>
          </a:p>
        </p:txBody>
      </p:sp>
      <p:sp>
        <p:nvSpPr>
          <p:cNvPr id="9" name="Text 7"/>
          <p:cNvSpPr/>
          <p:nvPr/>
        </p:nvSpPr>
        <p:spPr>
          <a:xfrm>
            <a:off x="1117600" y="3685282"/>
            <a:ext cx="470262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3D9"/>
                </a:solidFill>
                <a:latin typeface="Plus Jakarta Sans" pitchFamily="34" charset="0"/>
                <a:ea typeface="Plus Jakarta Sans" pitchFamily="34" charset="-122"/>
                <a:cs typeface="Plus Jakarta Sans" pitchFamily="34" charset="-120"/>
              </a:rPr>
              <a:t>Seller 225, Pro 450, Business 750 birr for 12 months.</a:t>
            </a:r>
            <a:endParaRPr lang="en-US" sz="1300" dirty="0"/>
          </a:p>
        </p:txBody>
      </p:sp>
      <p:sp>
        <p:nvSpPr>
          <p:cNvPr id="10" name="Shape 8"/>
          <p:cNvSpPr/>
          <p:nvPr/>
        </p:nvSpPr>
        <p:spPr>
          <a:xfrm>
            <a:off x="6194425" y="1989336"/>
            <a:ext cx="5181600" cy="3185517"/>
          </a:xfrm>
          <a:prstGeom prst="roundRect">
            <a:avLst>
              <a:gd name="adj" fmla="val 4684"/>
            </a:avLst>
          </a:prstGeom>
          <a:solidFill>
            <a:srgbClr val="FFFEFA"/>
          </a:solidFill>
          <a:ln w="6350">
            <a:solidFill>
              <a:srgbClr val="E2DED3"/>
            </a:solidFill>
            <a:prstDash val="solid"/>
          </a:ln>
        </p:spPr>
      </p:sp>
      <p:sp>
        <p:nvSpPr>
          <p:cNvPr id="11" name="Text 9"/>
          <p:cNvSpPr/>
          <p:nvPr/>
        </p:nvSpPr>
        <p:spPr>
          <a:xfrm>
            <a:off x="6502400" y="2297311"/>
            <a:ext cx="470262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5A43"/>
                </a:solidFill>
                <a:latin typeface="Plus Jakarta Sans" pitchFamily="34" charset="0"/>
                <a:ea typeface="Plus Jakarta Sans" pitchFamily="34" charset="-122"/>
                <a:cs typeface="Plus Jakarta Sans" pitchFamily="34" charset="-120"/>
              </a:rPr>
              <a:t>Other income</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15100" y="2711252"/>
          <a:ext cx="4552950" cy="2155627"/>
        </p:xfrm>
        <a:graphic>
          <a:graphicData uri="http://schemas.openxmlformats.org/drawingml/2006/table">
            <a:tbl>
              <a:tblPr/>
              <a:tblGrid>
                <a:gridCol w="2822829"/>
                <a:gridCol w="1730121"/>
              </a:tblGrid>
              <a:tr h="359271">
                <a:tc>
                  <a:txBody>
                    <a:bodyPr/>
                    <a:lstStyle/>
                    <a:p>
                      <a:pPr indent="0" marL="0">
                        <a:lnSpc>
                          <a:spcPts val="1820"/>
                        </a:lnSpc>
                        <a:buNone/>
                      </a:pPr>
                      <a:r>
                        <a:rPr lang="en-US" sz="1300" b="1" dirty="0">
                          <a:solidFill>
                            <a:srgbClr val="13201A"/>
                          </a:solidFill>
                          <a:latin typeface="Plus Jakarta Sans" pitchFamily="34" charset="0"/>
                          <a:ea typeface="Plus Jakarta Sans" pitchFamily="34" charset="-122"/>
                          <a:cs typeface="Plus Jakarta Sans" pitchFamily="34" charset="-120"/>
                        </a:rPr>
                        <a:t>Source</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BCBCB9"/>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CBCB9"/>
                      </a:solidFill>
                      <a:prstDash val="solid"/>
                      <a:round/>
                      <a:headEnd type="none" w="med" len="med"/>
                      <a:tailEnd type="none" w="med" len="med"/>
                    </a:lnB>
                    <a:solidFill>
                      <a:srgbClr val="ECEBE8"/>
                    </a:solidFill>
                  </a:tcPr>
                </a:tc>
                <a:tc>
                  <a:txBody>
                    <a:bodyPr/>
                    <a:lstStyle/>
                    <a:p>
                      <a:pPr algn="r" indent="0" marL="0">
                        <a:lnSpc>
                          <a:spcPts val="1820"/>
                        </a:lnSpc>
                        <a:buNone/>
                      </a:pPr>
                      <a:r>
                        <a:rPr lang="en-US" sz="1300" b="1" dirty="0">
                          <a:solidFill>
                            <a:srgbClr val="13201A"/>
                          </a:solidFill>
                          <a:latin typeface="Plus Jakarta Sans" pitchFamily="34" charset="0"/>
                          <a:ea typeface="Plus Jakarta Sans" pitchFamily="34" charset="-122"/>
                          <a:cs typeface="Plus Jakarta Sans" pitchFamily="34" charset="-120"/>
                        </a:rPr>
                        <a:t>Price</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BCBCB9"/>
                      </a:solidFill>
                      <a:prstDash val="solid"/>
                      <a:round/>
                      <a:headEnd type="none" w="med" len="med"/>
                      <a:tailEnd type="none" w="med" len="med"/>
                    </a:lnL>
                    <a:lnR w="12700" cap="flat" cmpd="sng" algn="ctr">
                      <a:solidFill>
                        <a:srgbClr val="BCBCB9"/>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CBCB9"/>
                      </a:solidFill>
                      <a:prstDash val="solid"/>
                      <a:round/>
                      <a:headEnd type="none" w="med" len="med"/>
                      <a:tailEnd type="none" w="med" len="med"/>
                    </a:lnB>
                    <a:solidFill>
                      <a:srgbClr val="ECEBE8"/>
                    </a:solidFill>
                  </a:tcPr>
                </a:tc>
              </a:tr>
              <a:tr h="359271">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Extra boost, 5 days</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BCBCB9"/>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60 birr</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BCBCB9"/>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r>
              <a:tr h="359271">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Job post, 30 days</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199 birr</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r>
              <a:tr h="359271">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Professional CV</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199–499</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r>
              <a:tr h="359271">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Local ads</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1,500 / month</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r>
              <a:tr h="359271">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Fee on online orders, later</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algn="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3%</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r>
            </a:tbl>
          </a:graphicData>
        </a:graphic>
      </p:graphicFrame>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36C"/>
                </a:solidFill>
                <a:latin typeface="Plus Jakarta Sans" pitchFamily="34" charset="0"/>
                <a:ea typeface="Plus Jakarta Sans" pitchFamily="34" charset="-122"/>
                <a:cs typeface="Plus Jakarta Sans" pitchFamily="34" charset="-120"/>
              </a:rPr>
              <a:t>Sodo Gebeya · System overview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590F"/>
                </a:solidFill>
                <a:latin typeface="Plus Jakarta Sans" pitchFamily="34" charset="0"/>
                <a:ea typeface="Plus Jakarta Sans" pitchFamily="34" charset="-122"/>
                <a:cs typeface="Plus Jakarta Sans" pitchFamily="34" charset="-120"/>
              </a:rPr>
              <a:t>REWARDS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3201A"/>
                </a:solidFill>
                <a:latin typeface="Plus Jakarta Sans" pitchFamily="34" charset="0"/>
                <a:ea typeface="Plus Jakarta Sans" pitchFamily="34" charset="-122"/>
                <a:cs typeface="Plus Jakarta Sans" pitchFamily="34" charset="-120"/>
              </a:rPr>
              <a:t>Rewards with on/off switches</a:t>
            </a:r>
            <a:endParaRPr lang="en-US" sz="3600" dirty="0"/>
          </a:p>
        </p:txBody>
      </p:sp>
      <p:sp>
        <p:nvSpPr>
          <p:cNvPr id="4" name="Shape 2"/>
          <p:cNvSpPr/>
          <p:nvPr/>
        </p:nvSpPr>
        <p:spPr>
          <a:xfrm>
            <a:off x="815975" y="1989336"/>
            <a:ext cx="5175250" cy="1631752"/>
          </a:xfrm>
          <a:prstGeom prst="roundRect">
            <a:avLst>
              <a:gd name="adj" fmla="val 9145"/>
            </a:avLst>
          </a:prstGeom>
          <a:solidFill>
            <a:srgbClr val="FFFEFA"/>
          </a:solidFill>
          <a:ln w="6350">
            <a:solidFill>
              <a:srgbClr val="E2DED3"/>
            </a:solidFill>
            <a:prstDash val="solid"/>
          </a:ln>
        </p:spPr>
      </p:sp>
      <p:sp>
        <p:nvSpPr>
          <p:cNvPr id="5" name="Text 3"/>
          <p:cNvSpPr/>
          <p:nvPr/>
        </p:nvSpPr>
        <p:spPr>
          <a:xfrm>
            <a:off x="1073150" y="2254151"/>
            <a:ext cx="171509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1A"/>
                </a:solidFill>
                <a:latin typeface="Plus Jakarta Sans" pitchFamily="34" charset="0"/>
                <a:ea typeface="Plus Jakarta Sans" pitchFamily="34" charset="-122"/>
                <a:cs typeface="Plus Jakarta Sans" pitchFamily="34" charset="-120"/>
              </a:rPr>
              <a:t>Invite a seller</a:t>
            </a:r>
            <a:endParaRPr lang="en-US" sz="1800" dirty="0"/>
          </a:p>
        </p:txBody>
      </p:sp>
      <p:sp>
        <p:nvSpPr>
          <p:cNvPr id="6" name="Text 4"/>
          <p:cNvSpPr/>
          <p:nvPr/>
        </p:nvSpPr>
        <p:spPr>
          <a:xfrm>
            <a:off x="5258693" y="2246511"/>
            <a:ext cx="475357" cy="289520"/>
          </a:xfrm>
          <a:custGeom>
            <a:avLst/>
            <a:gdLst/>
            <a:ahLst/>
            <a:cxnLst/>
            <a:rect l="l" t="t" r="r" b="b"/>
            <a:pathLst>
              <a:path w="475357" h="289520">
                <a:moveTo>
                  <a:pt x="144760" y="0"/>
                </a:moveTo>
                <a:lnTo>
                  <a:pt x="330597" y="0"/>
                </a:lnTo>
                <a:arcTo hR="144760" wR="144760" stAng="16200000" swAng="5400000"/>
                <a:lnTo>
                  <a:pt x="475357" y="144760"/>
                </a:lnTo>
                <a:arcTo hR="144760" wR="144760" stAng="0" swAng="5400000"/>
                <a:lnTo>
                  <a:pt x="144760" y="289520"/>
                </a:lnTo>
                <a:arcTo hR="144760" wR="144760" stAng="5400000" swAng="5400000"/>
                <a:lnTo>
                  <a:pt x="0" y="144760"/>
                </a:lnTo>
                <a:arcTo hR="144760" wR="144760" stAng="10800000" swAng="5400000"/>
                <a:close/>
              </a:path>
            </a:pathLst>
          </a:custGeom>
          <a:solidFill>
            <a:srgbClr val="0E5A43"/>
          </a:solidFill>
          <a:ln/>
        </p:spPr>
        <p:txBody>
          <a:bodyPr wrap="none" lIns="0" tIns="0" rIns="0" bIns="0" rtlCol="0" anchor="ctr">
            <a:normAutofit/>
          </a:bodyPr>
          <a:lstStyle/>
          <a:p>
            <a:pPr algn="ctr" indent="0" marL="0">
              <a:lnSpc>
                <a:spcPts val="1680"/>
              </a:lnSpc>
              <a:buNone/>
            </a:pPr>
            <a:r>
              <a:rPr lang="en-US" sz="1200" b="1" dirty="0">
                <a:solidFill>
                  <a:srgbClr val="F6F4EE"/>
                </a:solidFill>
                <a:latin typeface="Plus Jakarta Sans" pitchFamily="34" charset="0"/>
                <a:ea typeface="Plus Jakarta Sans" pitchFamily="34" charset="-122"/>
                <a:cs typeface="Plus Jakarta Sans" pitchFamily="34" charset="-120"/>
              </a:rPr>
              <a:t>ON</a:t>
            </a:r>
            <a:endParaRPr lang="en-US" sz="1200" dirty="0"/>
          </a:p>
        </p:txBody>
      </p:sp>
      <p:sp>
        <p:nvSpPr>
          <p:cNvPr id="7" name="Text 5"/>
          <p:cNvSpPr/>
          <p:nvPr/>
        </p:nvSpPr>
        <p:spPr>
          <a:xfrm>
            <a:off x="1073150" y="2612231"/>
            <a:ext cx="480072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751"/>
                </a:solidFill>
                <a:latin typeface="Plus Jakarta Sans" pitchFamily="34" charset="0"/>
                <a:ea typeface="Plus Jakarta Sans" pitchFamily="34" charset="-122"/>
                <a:cs typeface="Plus Jakarta Sans" pitchFamily="34" charset="-120"/>
              </a:rPr>
              <a:t>100 birr to the inviter, 50 to the new seller, after KYC and a first approved post.</a:t>
            </a:r>
            <a:endParaRPr lang="en-US" sz="1300" dirty="0"/>
          </a:p>
        </p:txBody>
      </p:sp>
      <p:sp>
        <p:nvSpPr>
          <p:cNvPr id="8" name="Text 6"/>
          <p:cNvSpPr/>
          <p:nvPr/>
        </p:nvSpPr>
        <p:spPr>
          <a:xfrm>
            <a:off x="1073150" y="3150592"/>
            <a:ext cx="48007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5A43"/>
                </a:solidFill>
                <a:latin typeface="Plus Jakarta Sans" pitchFamily="34" charset="0"/>
                <a:ea typeface="Plus Jakarta Sans" pitchFamily="34" charset="-122"/>
                <a:cs typeface="Plus Jakarta Sans" pitchFamily="34" charset="-120"/>
              </a:rPr>
              <a:t>Budget 30,000 birr · up to 200 sellers</a:t>
            </a:r>
            <a:endParaRPr lang="en-US" sz="1200" dirty="0"/>
          </a:p>
        </p:txBody>
      </p:sp>
      <p:sp>
        <p:nvSpPr>
          <p:cNvPr id="9" name="Shape 7"/>
          <p:cNvSpPr/>
          <p:nvPr/>
        </p:nvSpPr>
        <p:spPr>
          <a:xfrm>
            <a:off x="6200775" y="1989336"/>
            <a:ext cx="5175250" cy="1631752"/>
          </a:xfrm>
          <a:prstGeom prst="roundRect">
            <a:avLst>
              <a:gd name="adj" fmla="val 9145"/>
            </a:avLst>
          </a:prstGeom>
          <a:solidFill>
            <a:srgbClr val="FFFEFA"/>
          </a:solidFill>
          <a:ln w="6350">
            <a:solidFill>
              <a:srgbClr val="E2DED3"/>
            </a:solidFill>
            <a:prstDash val="solid"/>
          </a:ln>
        </p:spPr>
      </p:sp>
      <p:sp>
        <p:nvSpPr>
          <p:cNvPr id="10" name="Text 8"/>
          <p:cNvSpPr/>
          <p:nvPr/>
        </p:nvSpPr>
        <p:spPr>
          <a:xfrm>
            <a:off x="6457950" y="2254151"/>
            <a:ext cx="247697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1A"/>
                </a:solidFill>
                <a:latin typeface="Plus Jakarta Sans" pitchFamily="34" charset="0"/>
                <a:ea typeface="Plus Jakarta Sans" pitchFamily="34" charset="-122"/>
                <a:cs typeface="Plus Jakarta Sans" pitchFamily="34" charset="-120"/>
              </a:rPr>
              <a:t>10-day visit streak</a:t>
            </a:r>
            <a:endParaRPr lang="en-US" sz="1800" dirty="0"/>
          </a:p>
        </p:txBody>
      </p:sp>
      <p:sp>
        <p:nvSpPr>
          <p:cNvPr id="11" name="Text 9"/>
          <p:cNvSpPr/>
          <p:nvPr/>
        </p:nvSpPr>
        <p:spPr>
          <a:xfrm>
            <a:off x="9712424" y="2246511"/>
            <a:ext cx="1406426" cy="289520"/>
          </a:xfrm>
          <a:custGeom>
            <a:avLst/>
            <a:gdLst/>
            <a:ahLst/>
            <a:cxnLst/>
            <a:rect l="l" t="t" r="r" b="b"/>
            <a:pathLst>
              <a:path w="1406426" h="289520">
                <a:moveTo>
                  <a:pt x="144760" y="0"/>
                </a:moveTo>
                <a:lnTo>
                  <a:pt x="1261666" y="0"/>
                </a:lnTo>
                <a:arcTo hR="144760" wR="144760" stAng="16200000" swAng="5400000"/>
                <a:lnTo>
                  <a:pt x="1406426" y="144760"/>
                </a:lnTo>
                <a:arcTo hR="144760" wR="144760" stAng="0" swAng="5400000"/>
                <a:lnTo>
                  <a:pt x="144760" y="289520"/>
                </a:lnTo>
                <a:arcTo hR="144760" wR="144760" stAng="5400000" swAng="5400000"/>
                <a:lnTo>
                  <a:pt x="0" y="144760"/>
                </a:lnTo>
                <a:arcTo hR="144760" wR="144760" stAng="10800000" swAng="5400000"/>
                <a:close/>
              </a:path>
            </a:pathLst>
          </a:custGeom>
          <a:solidFill>
            <a:srgbClr val="E2DED3"/>
          </a:solidFill>
          <a:ln/>
        </p:spPr>
        <p:txBody>
          <a:bodyPr wrap="none" lIns="0" tIns="0" rIns="0" bIns="0" rtlCol="0" anchor="ctr">
            <a:normAutofit/>
          </a:bodyPr>
          <a:lstStyle/>
          <a:p>
            <a:pPr algn="ctr" indent="0" marL="0">
              <a:lnSpc>
                <a:spcPts val="1680"/>
              </a:lnSpc>
              <a:buNone/>
            </a:pPr>
            <a:r>
              <a:rPr lang="en-US" sz="1200" b="1" dirty="0">
                <a:solidFill>
                  <a:srgbClr val="4A5751"/>
                </a:solidFill>
                <a:latin typeface="Plus Jakarta Sans" pitchFamily="34" charset="0"/>
                <a:ea typeface="Plus Jakarta Sans" pitchFamily="34" charset="-122"/>
                <a:cs typeface="Plus Jakarta Sans" pitchFamily="34" charset="-120"/>
              </a:rPr>
              <a:t>OFF until launch</a:t>
            </a:r>
            <a:endParaRPr lang="en-US" sz="1200" dirty="0"/>
          </a:p>
        </p:txBody>
      </p:sp>
      <p:sp>
        <p:nvSpPr>
          <p:cNvPr id="12" name="Text 10"/>
          <p:cNvSpPr/>
          <p:nvPr/>
        </p:nvSpPr>
        <p:spPr>
          <a:xfrm>
            <a:off x="6457950" y="2612231"/>
            <a:ext cx="480072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751"/>
                </a:solidFill>
                <a:latin typeface="Plus Jakarta Sans" pitchFamily="34" charset="0"/>
                <a:ea typeface="Plus Jakarta Sans" pitchFamily="34" charset="-122"/>
                <a:cs typeface="Plus Jakarta Sans" pitchFamily="34" charset="-120"/>
              </a:rPr>
              <a:t>2 minutes a day on 10 days within 14 days earns a 25 birr airtime card.</a:t>
            </a:r>
            <a:endParaRPr lang="en-US" sz="1300" dirty="0"/>
          </a:p>
        </p:txBody>
      </p:sp>
      <p:sp>
        <p:nvSpPr>
          <p:cNvPr id="13" name="Text 11"/>
          <p:cNvSpPr/>
          <p:nvPr/>
        </p:nvSpPr>
        <p:spPr>
          <a:xfrm>
            <a:off x="6457950" y="3150592"/>
            <a:ext cx="48007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5A43"/>
                </a:solidFill>
                <a:latin typeface="Plus Jakarta Sans" pitchFamily="34" charset="0"/>
                <a:ea typeface="Plus Jakarta Sans" pitchFamily="34" charset="-122"/>
                <a:cs typeface="Plus Jakarta Sans" pitchFamily="34" charset="-120"/>
              </a:rPr>
              <a:t>Budget 10,000 birr · up to 400 cards</a:t>
            </a:r>
            <a:endParaRPr lang="en-US" sz="1200" dirty="0"/>
          </a:p>
        </p:txBody>
      </p:sp>
      <p:sp>
        <p:nvSpPr>
          <p:cNvPr id="14" name="Shape 12"/>
          <p:cNvSpPr/>
          <p:nvPr/>
        </p:nvSpPr>
        <p:spPr>
          <a:xfrm>
            <a:off x="815975" y="3830637"/>
            <a:ext cx="5175250" cy="1631752"/>
          </a:xfrm>
          <a:prstGeom prst="roundRect">
            <a:avLst>
              <a:gd name="adj" fmla="val 9145"/>
            </a:avLst>
          </a:prstGeom>
          <a:solidFill>
            <a:srgbClr val="FFFEFA"/>
          </a:solidFill>
          <a:ln w="6350">
            <a:solidFill>
              <a:srgbClr val="E2DED3"/>
            </a:solidFill>
            <a:prstDash val="solid"/>
          </a:ln>
        </p:spPr>
      </p:sp>
      <p:sp>
        <p:nvSpPr>
          <p:cNvPr id="15" name="Text 13"/>
          <p:cNvSpPr/>
          <p:nvPr/>
        </p:nvSpPr>
        <p:spPr>
          <a:xfrm>
            <a:off x="1073150" y="4095452"/>
            <a:ext cx="205954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1A"/>
                </a:solidFill>
                <a:latin typeface="Plus Jakarta Sans" pitchFamily="34" charset="0"/>
                <a:ea typeface="Plus Jakarta Sans" pitchFamily="34" charset="-122"/>
                <a:cs typeface="Plus Jakarta Sans" pitchFamily="34" charset="-120"/>
              </a:rPr>
              <a:t>Founding Seller</a:t>
            </a:r>
            <a:endParaRPr lang="en-US" sz="1800" dirty="0"/>
          </a:p>
        </p:txBody>
      </p:sp>
      <p:sp>
        <p:nvSpPr>
          <p:cNvPr id="16" name="Text 14"/>
          <p:cNvSpPr/>
          <p:nvPr/>
        </p:nvSpPr>
        <p:spPr>
          <a:xfrm>
            <a:off x="5258693" y="4087812"/>
            <a:ext cx="475357" cy="289520"/>
          </a:xfrm>
          <a:custGeom>
            <a:avLst/>
            <a:gdLst/>
            <a:ahLst/>
            <a:cxnLst/>
            <a:rect l="l" t="t" r="r" b="b"/>
            <a:pathLst>
              <a:path w="475357" h="289520">
                <a:moveTo>
                  <a:pt x="144760" y="0"/>
                </a:moveTo>
                <a:lnTo>
                  <a:pt x="330597" y="0"/>
                </a:lnTo>
                <a:arcTo hR="144760" wR="144760" stAng="16200000" swAng="5400000"/>
                <a:lnTo>
                  <a:pt x="475357" y="144760"/>
                </a:lnTo>
                <a:arcTo hR="144760" wR="144760" stAng="0" swAng="5400000"/>
                <a:lnTo>
                  <a:pt x="144760" y="289520"/>
                </a:lnTo>
                <a:arcTo hR="144760" wR="144760" stAng="5400000" swAng="5400000"/>
                <a:lnTo>
                  <a:pt x="0" y="144760"/>
                </a:lnTo>
                <a:arcTo hR="144760" wR="144760" stAng="10800000" swAng="5400000"/>
                <a:close/>
              </a:path>
            </a:pathLst>
          </a:custGeom>
          <a:solidFill>
            <a:srgbClr val="0E5A43"/>
          </a:solidFill>
          <a:ln/>
        </p:spPr>
        <p:txBody>
          <a:bodyPr wrap="none" lIns="0" tIns="0" rIns="0" bIns="0" rtlCol="0" anchor="ctr">
            <a:normAutofit/>
          </a:bodyPr>
          <a:lstStyle/>
          <a:p>
            <a:pPr algn="ctr" indent="0" marL="0">
              <a:lnSpc>
                <a:spcPts val="1680"/>
              </a:lnSpc>
              <a:buNone/>
            </a:pPr>
            <a:r>
              <a:rPr lang="en-US" sz="1200" b="1" dirty="0">
                <a:solidFill>
                  <a:srgbClr val="F6F4EE"/>
                </a:solidFill>
                <a:latin typeface="Plus Jakarta Sans" pitchFamily="34" charset="0"/>
                <a:ea typeface="Plus Jakarta Sans" pitchFamily="34" charset="-122"/>
                <a:cs typeface="Plus Jakarta Sans" pitchFamily="34" charset="-120"/>
              </a:rPr>
              <a:t>ON</a:t>
            </a:r>
            <a:endParaRPr lang="en-US" sz="1200" dirty="0"/>
          </a:p>
        </p:txBody>
      </p:sp>
      <p:sp>
        <p:nvSpPr>
          <p:cNvPr id="17" name="Text 15"/>
          <p:cNvSpPr/>
          <p:nvPr/>
        </p:nvSpPr>
        <p:spPr>
          <a:xfrm>
            <a:off x="1073150" y="4453533"/>
            <a:ext cx="480072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751"/>
                </a:solidFill>
                <a:latin typeface="Plus Jakarta Sans" pitchFamily="34" charset="0"/>
                <a:ea typeface="Plus Jakarta Sans" pitchFamily="34" charset="-122"/>
                <a:cs typeface="Plus Jakarta Sans" pitchFamily="34" charset="-120"/>
              </a:rPr>
              <a:t>The first 100 verified sellers get a badge and free plan months.</a:t>
            </a:r>
            <a:endParaRPr lang="en-US" sz="1300" dirty="0"/>
          </a:p>
        </p:txBody>
      </p:sp>
      <p:sp>
        <p:nvSpPr>
          <p:cNvPr id="18" name="Text 16"/>
          <p:cNvSpPr/>
          <p:nvPr/>
        </p:nvSpPr>
        <p:spPr>
          <a:xfrm>
            <a:off x="1073150" y="4991894"/>
            <a:ext cx="48007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5A43"/>
                </a:solidFill>
                <a:latin typeface="Plus Jakarta Sans" pitchFamily="34" charset="0"/>
                <a:ea typeface="Plus Jakarta Sans" pitchFamily="34" charset="-122"/>
                <a:cs typeface="Plus Jakarta Sans" pitchFamily="34" charset="-120"/>
              </a:rPr>
              <a:t>No cash cost</a:t>
            </a:r>
            <a:endParaRPr lang="en-US" sz="1200" dirty="0"/>
          </a:p>
        </p:txBody>
      </p:sp>
      <p:sp>
        <p:nvSpPr>
          <p:cNvPr id="19" name="Shape 17"/>
          <p:cNvSpPr/>
          <p:nvPr/>
        </p:nvSpPr>
        <p:spPr>
          <a:xfrm>
            <a:off x="6197600" y="3827463"/>
            <a:ext cx="5181600" cy="1638102"/>
          </a:xfrm>
          <a:prstGeom prst="roundRect">
            <a:avLst>
              <a:gd name="adj" fmla="val 9303"/>
            </a:avLst>
          </a:prstGeom>
          <a:solidFill>
            <a:srgbClr val="0E5A43"/>
          </a:solidFill>
          <a:ln/>
        </p:spPr>
      </p:sp>
      <p:pic>
        <p:nvPicPr>
          <p:cNvPr id="20" name="Image 0" descr="Lock">    </p:cNvPr>
          <p:cNvPicPr>
            <a:picLocks noChangeAspect="1"/>
          </p:cNvPicPr>
          <p:nvPr/>
        </p:nvPicPr>
        <p:blipFill>
          <a:blip r:embed="rId1"/>
          <a:srcRect l="0" r="0" t="0" b="0"/>
          <a:stretch/>
        </p:blipFill>
        <p:spPr>
          <a:xfrm>
            <a:off x="6451600" y="4081463"/>
            <a:ext cx="279400" cy="279400"/>
          </a:xfrm>
          <a:prstGeom prst="rect">
            <a:avLst/>
          </a:prstGeom>
        </p:spPr>
      </p:pic>
      <p:sp>
        <p:nvSpPr>
          <p:cNvPr id="21" name="Text 18"/>
          <p:cNvSpPr/>
          <p:nvPr/>
        </p:nvSpPr>
        <p:spPr>
          <a:xfrm>
            <a:off x="6832600" y="4084042"/>
            <a:ext cx="176426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E"/>
                </a:solidFill>
                <a:latin typeface="Plus Jakarta Sans" pitchFamily="34" charset="0"/>
                <a:ea typeface="Plus Jakarta Sans" pitchFamily="34" charset="-122"/>
                <a:cs typeface="Plus Jakarta Sans" pitchFamily="34" charset="-120"/>
              </a:rPr>
              <a:t>Built-in limits</a:t>
            </a:r>
            <a:endParaRPr lang="en-US" sz="1800" dirty="0"/>
          </a:p>
        </p:txBody>
      </p:sp>
      <p:sp>
        <p:nvSpPr>
          <p:cNvPr id="22" name="Text 19"/>
          <p:cNvSpPr/>
          <p:nvPr/>
        </p:nvSpPr>
        <p:spPr>
          <a:xfrm>
            <a:off x="6451600" y="4437063"/>
            <a:ext cx="481380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3D9"/>
                </a:solidFill>
                <a:latin typeface="Plus Jakarta Sans" pitchFamily="34" charset="0"/>
                <a:ea typeface="Plus Jakarta Sans" pitchFamily="34" charset="-122"/>
                <a:cs typeface="Plus Jakarta Sans" pitchFamily="34" charset="-120"/>
              </a:rPr>
              <a:t>Max 10 paid invites a person, 7-day hold, and each reward turns itself off when its budget is used.</a:t>
            </a:r>
            <a:endParaRPr lang="en-US" sz="1300" dirty="0"/>
          </a:p>
        </p:txBody>
      </p:sp>
      <p:sp>
        <p:nvSpPr>
          <p:cNvPr id="23"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36C"/>
                </a:solidFill>
                <a:latin typeface="Plus Jakarta Sans" pitchFamily="34" charset="0"/>
                <a:ea typeface="Plus Jakarta Sans" pitchFamily="34" charset="-122"/>
                <a:cs typeface="Plus Jakarta Sans" pitchFamily="34" charset="-120"/>
              </a:rPr>
              <a:t>Sodo Gebeya · System overview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3B2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39B2D"/>
                </a:solidFill>
                <a:latin typeface="Plus Jakarta Sans" pitchFamily="34" charset="0"/>
                <a:ea typeface="Plus Jakarta Sans" pitchFamily="34" charset="-122"/>
                <a:cs typeface="Plus Jakarta Sans" pitchFamily="34" charset="-120"/>
              </a:rPr>
              <a:t>THE NUMBERS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F6F4EE"/>
                </a:solidFill>
                <a:latin typeface="Plus Jakarta Sans" pitchFamily="34" charset="0"/>
                <a:ea typeface="Plus Jakarta Sans" pitchFamily="34" charset="-122"/>
                <a:cs typeface="Plus Jakarta Sans" pitchFamily="34" charset="-120"/>
              </a:rPr>
              <a:t>A small, lean start that pays back</a:t>
            </a:r>
            <a:endParaRPr lang="en-US" sz="3600" dirty="0"/>
          </a:p>
        </p:txBody>
      </p:sp>
      <p:sp>
        <p:nvSpPr>
          <p:cNvPr id="4" name="Shape 2"/>
          <p:cNvSpPr/>
          <p:nvPr/>
        </p:nvSpPr>
        <p:spPr>
          <a:xfrm>
            <a:off x="812800" y="1986161"/>
            <a:ext cx="3386634" cy="1803202"/>
          </a:xfrm>
          <a:prstGeom prst="roundRect">
            <a:avLst>
              <a:gd name="adj" fmla="val 8452"/>
            </a:avLst>
          </a:prstGeom>
          <a:solidFill>
            <a:srgbClr val="0E5A43"/>
          </a:solidFill>
          <a:ln/>
        </p:spPr>
      </p:sp>
      <p:sp>
        <p:nvSpPr>
          <p:cNvPr id="5" name="Text 3"/>
          <p:cNvSpPr/>
          <p:nvPr/>
        </p:nvSpPr>
        <p:spPr>
          <a:xfrm>
            <a:off x="1066800" y="2240161"/>
            <a:ext cx="2964993" cy="807641"/>
          </a:xfrm>
          <a:prstGeom prst="rect">
            <a:avLst/>
          </a:prstGeom>
          <a:noFill/>
          <a:ln/>
        </p:spPr>
        <p:txBody>
          <a:bodyPr wrap="square" lIns="0" tIns="0" rIns="0" bIns="0" rtlCol="0" anchor="t">
            <a:normAutofit/>
          </a:bodyPr>
          <a:lstStyle/>
          <a:p>
            <a:pPr algn="l" indent="0" marL="0">
              <a:lnSpc>
                <a:spcPts val="6160"/>
              </a:lnSpc>
              <a:buNone/>
            </a:pPr>
            <a:r>
              <a:rPr lang="en-US" sz="4400" b="1" spc="-100" kern="0" dirty="0">
                <a:solidFill>
                  <a:srgbClr val="E39B2D"/>
                </a:solidFill>
                <a:latin typeface="Plus Jakarta Sans" pitchFamily="34" charset="0"/>
                <a:ea typeface="Plus Jakarta Sans" pitchFamily="34" charset="-122"/>
                <a:cs typeface="Plus Jakarta Sans" pitchFamily="34" charset="-120"/>
              </a:rPr>
              <a:t>482</a:t>
            </a:r>
            <a:endParaRPr lang="en-US" sz="4400" dirty="0"/>
          </a:p>
        </p:txBody>
      </p:sp>
      <p:sp>
        <p:nvSpPr>
          <p:cNvPr id="6" name="Text 4"/>
          <p:cNvSpPr/>
          <p:nvPr/>
        </p:nvSpPr>
        <p:spPr>
          <a:xfrm>
            <a:off x="1066800" y="3073202"/>
            <a:ext cx="296499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3D9"/>
                </a:solidFill>
                <a:latin typeface="Plus Jakarta Sans" pitchFamily="34" charset="0"/>
                <a:ea typeface="Plus Jakarta Sans" pitchFamily="34" charset="-122"/>
                <a:cs typeface="Plus Jakarta Sans" pitchFamily="34" charset="-120"/>
              </a:rPr>
              <a:t>Birr a month from the average paying seller</a:t>
            </a:r>
            <a:endParaRPr lang="en-US" sz="1300" dirty="0"/>
          </a:p>
        </p:txBody>
      </p:sp>
      <p:sp>
        <p:nvSpPr>
          <p:cNvPr id="7" name="Shape 5"/>
          <p:cNvSpPr/>
          <p:nvPr/>
        </p:nvSpPr>
        <p:spPr>
          <a:xfrm>
            <a:off x="4402634" y="1986161"/>
            <a:ext cx="3386634" cy="1803202"/>
          </a:xfrm>
          <a:prstGeom prst="roundRect">
            <a:avLst>
              <a:gd name="adj" fmla="val 8452"/>
            </a:avLst>
          </a:prstGeom>
          <a:solidFill>
            <a:srgbClr val="0E5A43"/>
          </a:solidFill>
          <a:ln/>
        </p:spPr>
      </p:sp>
      <p:sp>
        <p:nvSpPr>
          <p:cNvPr id="8" name="Text 6"/>
          <p:cNvSpPr/>
          <p:nvPr/>
        </p:nvSpPr>
        <p:spPr>
          <a:xfrm>
            <a:off x="4656634" y="2240161"/>
            <a:ext cx="2964993" cy="807641"/>
          </a:xfrm>
          <a:prstGeom prst="rect">
            <a:avLst/>
          </a:prstGeom>
          <a:noFill/>
          <a:ln/>
        </p:spPr>
        <p:txBody>
          <a:bodyPr wrap="square" lIns="0" tIns="0" rIns="0" bIns="0" rtlCol="0" anchor="t">
            <a:normAutofit/>
          </a:bodyPr>
          <a:lstStyle/>
          <a:p>
            <a:pPr algn="l" indent="0" marL="0">
              <a:lnSpc>
                <a:spcPts val="6160"/>
              </a:lnSpc>
              <a:buNone/>
            </a:pPr>
            <a:r>
              <a:rPr lang="en-US" sz="4400" b="1" spc="-100" kern="0" dirty="0">
                <a:solidFill>
                  <a:srgbClr val="E39B2D"/>
                </a:solidFill>
                <a:latin typeface="Plus Jakarta Sans" pitchFamily="34" charset="0"/>
                <a:ea typeface="Plus Jakarta Sans" pitchFamily="34" charset="-122"/>
                <a:cs typeface="Plus Jakarta Sans" pitchFamily="34" charset="-120"/>
              </a:rPr>
              <a:t>18,000</a:t>
            </a:r>
            <a:endParaRPr lang="en-US" sz="4400" dirty="0"/>
          </a:p>
        </p:txBody>
      </p:sp>
      <p:sp>
        <p:nvSpPr>
          <p:cNvPr id="9" name="Text 7"/>
          <p:cNvSpPr/>
          <p:nvPr/>
        </p:nvSpPr>
        <p:spPr>
          <a:xfrm>
            <a:off x="4656634" y="3073202"/>
            <a:ext cx="296499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3D9"/>
                </a:solidFill>
                <a:latin typeface="Plus Jakarta Sans" pitchFamily="34" charset="0"/>
                <a:ea typeface="Plus Jakarta Sans" pitchFamily="34" charset="-122"/>
                <a:cs typeface="Plus Jakarta Sans" pitchFamily="34" charset="-120"/>
              </a:rPr>
              <a:t>Birr a month in lean year-1 costs</a:t>
            </a:r>
            <a:endParaRPr lang="en-US" sz="1300" dirty="0"/>
          </a:p>
        </p:txBody>
      </p:sp>
      <p:sp>
        <p:nvSpPr>
          <p:cNvPr id="10" name="Shape 8"/>
          <p:cNvSpPr/>
          <p:nvPr/>
        </p:nvSpPr>
        <p:spPr>
          <a:xfrm>
            <a:off x="7992467" y="1986161"/>
            <a:ext cx="3386634" cy="1803202"/>
          </a:xfrm>
          <a:prstGeom prst="roundRect">
            <a:avLst>
              <a:gd name="adj" fmla="val 8452"/>
            </a:avLst>
          </a:prstGeom>
          <a:solidFill>
            <a:srgbClr val="0E5A43"/>
          </a:solidFill>
          <a:ln/>
        </p:spPr>
      </p:sp>
      <p:sp>
        <p:nvSpPr>
          <p:cNvPr id="11" name="Text 9"/>
          <p:cNvSpPr/>
          <p:nvPr/>
        </p:nvSpPr>
        <p:spPr>
          <a:xfrm>
            <a:off x="8246467" y="2240161"/>
            <a:ext cx="2964993" cy="807641"/>
          </a:xfrm>
          <a:prstGeom prst="rect">
            <a:avLst/>
          </a:prstGeom>
          <a:noFill/>
          <a:ln/>
        </p:spPr>
        <p:txBody>
          <a:bodyPr wrap="square" lIns="0" tIns="0" rIns="0" bIns="0" rtlCol="0" anchor="t">
            <a:normAutofit/>
          </a:bodyPr>
          <a:lstStyle/>
          <a:p>
            <a:pPr algn="l" indent="0" marL="0">
              <a:lnSpc>
                <a:spcPts val="6160"/>
              </a:lnSpc>
              <a:buNone/>
            </a:pPr>
            <a:r>
              <a:rPr lang="en-US" sz="4400" b="1" spc="-100" kern="0" dirty="0">
                <a:solidFill>
                  <a:srgbClr val="E39B2D"/>
                </a:solidFill>
                <a:latin typeface="Plus Jakarta Sans" pitchFamily="34" charset="0"/>
                <a:ea typeface="Plus Jakarta Sans" pitchFamily="34" charset="-122"/>
                <a:cs typeface="Plus Jakarta Sans" pitchFamily="34" charset="-120"/>
              </a:rPr>
              <a:t>38</a:t>
            </a:r>
            <a:endParaRPr lang="en-US" sz="4400" dirty="0"/>
          </a:p>
        </p:txBody>
      </p:sp>
      <p:sp>
        <p:nvSpPr>
          <p:cNvPr id="12" name="Text 10"/>
          <p:cNvSpPr/>
          <p:nvPr/>
        </p:nvSpPr>
        <p:spPr>
          <a:xfrm>
            <a:off x="8246467" y="3073202"/>
            <a:ext cx="296499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3D9"/>
                </a:solidFill>
                <a:latin typeface="Plus Jakarta Sans" pitchFamily="34" charset="0"/>
                <a:ea typeface="Plus Jakarta Sans" pitchFamily="34" charset="-122"/>
                <a:cs typeface="Plus Jakarta Sans" pitchFamily="34" charset="-120"/>
              </a:rPr>
              <a:t>Paying sellers cover those costs</a:t>
            </a:r>
            <a:endParaRPr lang="en-US" sz="1300" dirty="0"/>
          </a:p>
        </p:txBody>
      </p:sp>
      <p:sp>
        <p:nvSpPr>
          <p:cNvPr id="13" name="Shape 11"/>
          <p:cNvSpPr/>
          <p:nvPr/>
        </p:nvSpPr>
        <p:spPr>
          <a:xfrm>
            <a:off x="812800" y="3992563"/>
            <a:ext cx="3386634" cy="1803202"/>
          </a:xfrm>
          <a:prstGeom prst="roundRect">
            <a:avLst>
              <a:gd name="adj" fmla="val 8452"/>
            </a:avLst>
          </a:prstGeom>
          <a:solidFill>
            <a:srgbClr val="0E5A43"/>
          </a:solidFill>
          <a:ln/>
        </p:spPr>
      </p:sp>
      <p:sp>
        <p:nvSpPr>
          <p:cNvPr id="14" name="Text 12"/>
          <p:cNvSpPr/>
          <p:nvPr/>
        </p:nvSpPr>
        <p:spPr>
          <a:xfrm>
            <a:off x="1066800" y="4246563"/>
            <a:ext cx="2964993" cy="807641"/>
          </a:xfrm>
          <a:prstGeom prst="rect">
            <a:avLst/>
          </a:prstGeom>
          <a:noFill/>
          <a:ln/>
        </p:spPr>
        <p:txBody>
          <a:bodyPr wrap="square" lIns="0" tIns="0" rIns="0" bIns="0" rtlCol="0" anchor="t">
            <a:normAutofit/>
          </a:bodyPr>
          <a:lstStyle/>
          <a:p>
            <a:pPr algn="l" indent="0" marL="0">
              <a:lnSpc>
                <a:spcPts val="6160"/>
              </a:lnSpc>
              <a:buNone/>
            </a:pPr>
            <a:r>
              <a:rPr lang="en-US" sz="4400" b="1" spc="-100" kern="0" dirty="0">
                <a:solidFill>
                  <a:srgbClr val="E39B2D"/>
                </a:solidFill>
                <a:latin typeface="Plus Jakarta Sans" pitchFamily="34" charset="0"/>
                <a:ea typeface="Plus Jakarta Sans" pitchFamily="34" charset="-122"/>
                <a:cs typeface="Plus Jakarta Sans" pitchFamily="34" charset="-120"/>
              </a:rPr>
              <a:t>Month 6</a:t>
            </a:r>
            <a:endParaRPr lang="en-US" sz="4400" dirty="0"/>
          </a:p>
        </p:txBody>
      </p:sp>
      <p:sp>
        <p:nvSpPr>
          <p:cNvPr id="15" name="Text 13"/>
          <p:cNvSpPr/>
          <p:nvPr/>
        </p:nvSpPr>
        <p:spPr>
          <a:xfrm>
            <a:off x="1066800" y="5079603"/>
            <a:ext cx="296499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3D9"/>
                </a:solidFill>
                <a:latin typeface="Plus Jakarta Sans" pitchFamily="34" charset="0"/>
                <a:ea typeface="Plus Jakarta Sans" pitchFamily="34" charset="-122"/>
                <a:cs typeface="Plus Jakarta Sans" pitchFamily="34" charset="-120"/>
              </a:rPr>
              <a:t>Income passes monthly costs</a:t>
            </a:r>
            <a:endParaRPr lang="en-US" sz="1300" dirty="0"/>
          </a:p>
        </p:txBody>
      </p:sp>
      <p:sp>
        <p:nvSpPr>
          <p:cNvPr id="16" name="Shape 14"/>
          <p:cNvSpPr/>
          <p:nvPr/>
        </p:nvSpPr>
        <p:spPr>
          <a:xfrm>
            <a:off x="4402634" y="3992563"/>
            <a:ext cx="3386634" cy="1803202"/>
          </a:xfrm>
          <a:prstGeom prst="roundRect">
            <a:avLst>
              <a:gd name="adj" fmla="val 8452"/>
            </a:avLst>
          </a:prstGeom>
          <a:solidFill>
            <a:srgbClr val="0E5A43"/>
          </a:solidFill>
          <a:ln/>
        </p:spPr>
      </p:sp>
      <p:sp>
        <p:nvSpPr>
          <p:cNvPr id="17" name="Text 15"/>
          <p:cNvSpPr/>
          <p:nvPr/>
        </p:nvSpPr>
        <p:spPr>
          <a:xfrm>
            <a:off x="4656634" y="4246563"/>
            <a:ext cx="2964993" cy="807641"/>
          </a:xfrm>
          <a:prstGeom prst="rect">
            <a:avLst/>
          </a:prstGeom>
          <a:noFill/>
          <a:ln/>
        </p:spPr>
        <p:txBody>
          <a:bodyPr wrap="square" lIns="0" tIns="0" rIns="0" bIns="0" rtlCol="0" anchor="t">
            <a:normAutofit/>
          </a:bodyPr>
          <a:lstStyle/>
          <a:p>
            <a:pPr algn="l" indent="0" marL="0">
              <a:lnSpc>
                <a:spcPts val="6160"/>
              </a:lnSpc>
              <a:buNone/>
            </a:pPr>
            <a:r>
              <a:rPr lang="en-US" sz="4400" b="1" spc="-100" kern="0" dirty="0">
                <a:solidFill>
                  <a:srgbClr val="E39B2D"/>
                </a:solidFill>
                <a:latin typeface="Plus Jakarta Sans" pitchFamily="34" charset="0"/>
                <a:ea typeface="Plus Jakarta Sans" pitchFamily="34" charset="-122"/>
                <a:cs typeface="Plus Jakarta Sans" pitchFamily="34" charset="-120"/>
              </a:rPr>
              <a:t>Month 13</a:t>
            </a:r>
            <a:endParaRPr lang="en-US" sz="4400" dirty="0"/>
          </a:p>
        </p:txBody>
      </p:sp>
      <p:sp>
        <p:nvSpPr>
          <p:cNvPr id="18" name="Text 16"/>
          <p:cNvSpPr/>
          <p:nvPr/>
        </p:nvSpPr>
        <p:spPr>
          <a:xfrm>
            <a:off x="4656634" y="5079603"/>
            <a:ext cx="296499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3D9"/>
                </a:solidFill>
                <a:latin typeface="Plus Jakarta Sans" pitchFamily="34" charset="0"/>
                <a:ea typeface="Plus Jakarta Sans" pitchFamily="34" charset="-122"/>
                <a:cs typeface="Plus Jakarta Sans" pitchFamily="34" charset="-120"/>
              </a:rPr>
              <a:t>All the money spent is back</a:t>
            </a:r>
            <a:endParaRPr lang="en-US" sz="1300" dirty="0"/>
          </a:p>
        </p:txBody>
      </p:sp>
      <p:sp>
        <p:nvSpPr>
          <p:cNvPr id="19" name="Shape 17"/>
          <p:cNvSpPr/>
          <p:nvPr/>
        </p:nvSpPr>
        <p:spPr>
          <a:xfrm>
            <a:off x="7992467" y="3992563"/>
            <a:ext cx="3386634" cy="1803202"/>
          </a:xfrm>
          <a:prstGeom prst="roundRect">
            <a:avLst>
              <a:gd name="adj" fmla="val 8452"/>
            </a:avLst>
          </a:prstGeom>
          <a:solidFill>
            <a:srgbClr val="F6F4EE"/>
          </a:solidFill>
          <a:ln/>
        </p:spPr>
      </p:sp>
      <p:sp>
        <p:nvSpPr>
          <p:cNvPr id="20" name="Text 18"/>
          <p:cNvSpPr/>
          <p:nvPr/>
        </p:nvSpPr>
        <p:spPr>
          <a:xfrm>
            <a:off x="8246467" y="4246563"/>
            <a:ext cx="2964993" cy="807641"/>
          </a:xfrm>
          <a:prstGeom prst="rect">
            <a:avLst/>
          </a:prstGeom>
          <a:noFill/>
          <a:ln/>
        </p:spPr>
        <p:txBody>
          <a:bodyPr wrap="square" lIns="0" tIns="0" rIns="0" bIns="0" rtlCol="0" anchor="t">
            <a:normAutofit/>
          </a:bodyPr>
          <a:lstStyle/>
          <a:p>
            <a:pPr algn="l" indent="0" marL="0">
              <a:lnSpc>
                <a:spcPts val="6160"/>
              </a:lnSpc>
              <a:buNone/>
            </a:pPr>
            <a:r>
              <a:rPr lang="en-US" sz="4400" b="1" spc="-100" kern="0" dirty="0">
                <a:solidFill>
                  <a:srgbClr val="0E5A43"/>
                </a:solidFill>
                <a:latin typeface="Plus Jakarta Sans" pitchFamily="34" charset="0"/>
                <a:ea typeface="Plus Jakarta Sans" pitchFamily="34" charset="-122"/>
                <a:cs typeface="Plus Jakarta Sans" pitchFamily="34" charset="-120"/>
              </a:rPr>
              <a:t>~150k</a:t>
            </a:r>
            <a:endParaRPr lang="en-US" sz="4400" dirty="0"/>
          </a:p>
        </p:txBody>
      </p:sp>
      <p:sp>
        <p:nvSpPr>
          <p:cNvPr id="21" name="Text 19"/>
          <p:cNvSpPr/>
          <p:nvPr/>
        </p:nvSpPr>
        <p:spPr>
          <a:xfrm>
            <a:off x="8246467" y="5079603"/>
            <a:ext cx="296499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Birr start money, founders’ pay not included</a:t>
            </a:r>
            <a:endParaRPr lang="en-US" sz="13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9BB"/>
                </a:solidFill>
                <a:latin typeface="Plus Jakarta Sans" pitchFamily="34" charset="0"/>
                <a:ea typeface="Plus Jakarta Sans" pitchFamily="34" charset="-122"/>
                <a:cs typeface="Plus Jakarta Sans" pitchFamily="34" charset="-120"/>
              </a:rPr>
              <a:t>Sodo Gebeya · System overview · 17 · From the Seller Plans start plan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590F"/>
                </a:solidFill>
                <a:latin typeface="Plus Jakarta Sans" pitchFamily="34" charset="0"/>
                <a:ea typeface="Plus Jakarta Sans" pitchFamily="34" charset="-122"/>
                <a:cs typeface="Plus Jakarta Sans" pitchFamily="34" charset="-120"/>
              </a:rPr>
              <a:t>ROADMAP</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3201A"/>
                </a:solidFill>
                <a:latin typeface="Plus Jakarta Sans" pitchFamily="34" charset="0"/>
                <a:ea typeface="Plus Jakarta Sans" pitchFamily="34" charset="-122"/>
                <a:cs typeface="Plus Jakarta Sans" pitchFamily="34" charset="-120"/>
              </a:rPr>
              <a:t>Five steps from launch to new towns</a:t>
            </a:r>
            <a:endParaRPr lang="en-US" sz="3600" dirty="0"/>
          </a:p>
        </p:txBody>
      </p:sp>
      <p:sp>
        <p:nvSpPr>
          <p:cNvPr id="4" name="Shape 2"/>
          <p:cNvSpPr/>
          <p:nvPr/>
        </p:nvSpPr>
        <p:spPr>
          <a:xfrm>
            <a:off x="812800" y="2005211"/>
            <a:ext cx="1991320" cy="0"/>
          </a:xfrm>
          <a:prstGeom prst="line">
            <a:avLst/>
          </a:prstGeom>
          <a:noFill/>
          <a:ln w="38100">
            <a:solidFill>
              <a:srgbClr val="0E5A43"/>
            </a:solidFill>
            <a:prstDash val="solid"/>
          </a:ln>
        </p:spPr>
      </p:sp>
      <p:sp>
        <p:nvSpPr>
          <p:cNvPr id="5" name="Text 3"/>
          <p:cNvSpPr/>
          <p:nvPr/>
        </p:nvSpPr>
        <p:spPr>
          <a:xfrm>
            <a:off x="812800" y="2202061"/>
            <a:ext cx="20510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5590F"/>
                </a:solidFill>
                <a:latin typeface="Plus Jakarta Sans" pitchFamily="34" charset="0"/>
                <a:ea typeface="Plus Jakarta Sans" pitchFamily="34" charset="-122"/>
                <a:cs typeface="Plus Jakarta Sans" pitchFamily="34" charset="-120"/>
              </a:rPr>
              <a:t>Weeks 1–2</a:t>
            </a:r>
            <a:endParaRPr lang="en-US" sz="1200" dirty="0"/>
          </a:p>
        </p:txBody>
      </p:sp>
      <p:sp>
        <p:nvSpPr>
          <p:cNvPr id="6" name="Text 4"/>
          <p:cNvSpPr/>
          <p:nvPr/>
        </p:nvSpPr>
        <p:spPr>
          <a:xfrm>
            <a:off x="812800" y="2516981"/>
            <a:ext cx="20510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1A"/>
                </a:solidFill>
                <a:latin typeface="Plus Jakarta Sans" pitchFamily="34" charset="0"/>
                <a:ea typeface="Plus Jakarta Sans" pitchFamily="34" charset="-122"/>
                <a:cs typeface="Plus Jakarta Sans" pitchFamily="34" charset="-120"/>
              </a:rPr>
              <a:t>Prepare</a:t>
            </a:r>
            <a:endParaRPr lang="en-US" sz="1600" dirty="0"/>
          </a:p>
        </p:txBody>
      </p:sp>
      <p:sp>
        <p:nvSpPr>
          <p:cNvPr id="7" name="Text 5"/>
          <p:cNvSpPr/>
          <p:nvPr/>
        </p:nvSpPr>
        <p:spPr>
          <a:xfrm>
            <a:off x="812800" y="2862362"/>
            <a:ext cx="20510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751"/>
                </a:solidFill>
                <a:latin typeface="Plus Jakarta Sans" pitchFamily="34" charset="0"/>
                <a:ea typeface="Plus Jakarta Sans" pitchFamily="34" charset="-122"/>
                <a:cs typeface="Plus Jakarta Sans" pitchFamily="34" charset="-120"/>
              </a:rPr>
              <a:t>Register the business. Build plans and payment. Test KYC.</a:t>
            </a:r>
            <a:endParaRPr lang="en-US" sz="1200" dirty="0"/>
          </a:p>
        </p:txBody>
      </p:sp>
      <p:sp>
        <p:nvSpPr>
          <p:cNvPr id="8" name="Shape 6"/>
          <p:cNvSpPr/>
          <p:nvPr/>
        </p:nvSpPr>
        <p:spPr>
          <a:xfrm>
            <a:off x="2956520" y="2005211"/>
            <a:ext cx="1991420" cy="0"/>
          </a:xfrm>
          <a:prstGeom prst="line">
            <a:avLst/>
          </a:prstGeom>
          <a:noFill/>
          <a:ln w="38100">
            <a:solidFill>
              <a:srgbClr val="0E5A43"/>
            </a:solidFill>
            <a:prstDash val="solid"/>
          </a:ln>
        </p:spPr>
      </p:sp>
      <p:sp>
        <p:nvSpPr>
          <p:cNvPr id="9" name="Text 7"/>
          <p:cNvSpPr/>
          <p:nvPr/>
        </p:nvSpPr>
        <p:spPr>
          <a:xfrm>
            <a:off x="2956520" y="2202061"/>
            <a:ext cx="20511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5590F"/>
                </a:solidFill>
                <a:latin typeface="Plus Jakarta Sans" pitchFamily="34" charset="0"/>
                <a:ea typeface="Plus Jakarta Sans" pitchFamily="34" charset="-122"/>
                <a:cs typeface="Plus Jakarta Sans" pitchFamily="34" charset="-120"/>
              </a:rPr>
              <a:t>Months 1–3</a:t>
            </a:r>
            <a:endParaRPr lang="en-US" sz="1200" dirty="0"/>
          </a:p>
        </p:txBody>
      </p:sp>
      <p:sp>
        <p:nvSpPr>
          <p:cNvPr id="10" name="Text 8"/>
          <p:cNvSpPr/>
          <p:nvPr/>
        </p:nvSpPr>
        <p:spPr>
          <a:xfrm>
            <a:off x="2956520" y="2516981"/>
            <a:ext cx="205116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1A"/>
                </a:solidFill>
                <a:latin typeface="Plus Jakarta Sans" pitchFamily="34" charset="0"/>
                <a:ea typeface="Plus Jakarta Sans" pitchFamily="34" charset="-122"/>
                <a:cs typeface="Plus Jakarta Sans" pitchFamily="34" charset="-120"/>
              </a:rPr>
              <a:t>Pilot</a:t>
            </a:r>
            <a:endParaRPr lang="en-US" sz="1600" dirty="0"/>
          </a:p>
        </p:txBody>
      </p:sp>
      <p:sp>
        <p:nvSpPr>
          <p:cNvPr id="11" name="Text 9"/>
          <p:cNvSpPr/>
          <p:nvPr/>
        </p:nvSpPr>
        <p:spPr>
          <a:xfrm>
            <a:off x="2956520" y="2862362"/>
            <a:ext cx="205116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751"/>
                </a:solidFill>
                <a:latin typeface="Plus Jakarta Sans" pitchFamily="34" charset="0"/>
                <a:ea typeface="Plus Jakarta Sans" pitchFamily="34" charset="-122"/>
                <a:cs typeface="Plus Jakarta Sans" pitchFamily="34" charset="-120"/>
              </a:rPr>
              <a:t>Sign up shops in person, Pro free. Send each shop a report.</a:t>
            </a:r>
            <a:endParaRPr lang="en-US" sz="1200" dirty="0"/>
          </a:p>
        </p:txBody>
      </p:sp>
      <p:sp>
        <p:nvSpPr>
          <p:cNvPr id="12" name="Shape 10"/>
          <p:cNvSpPr/>
          <p:nvPr/>
        </p:nvSpPr>
        <p:spPr>
          <a:xfrm>
            <a:off x="5100340" y="2005211"/>
            <a:ext cx="1991320" cy="0"/>
          </a:xfrm>
          <a:prstGeom prst="line">
            <a:avLst/>
          </a:prstGeom>
          <a:noFill/>
          <a:ln w="38100">
            <a:solidFill>
              <a:srgbClr val="0E5A43"/>
            </a:solidFill>
            <a:prstDash val="solid"/>
          </a:ln>
        </p:spPr>
      </p:sp>
      <p:sp>
        <p:nvSpPr>
          <p:cNvPr id="13" name="Text 11"/>
          <p:cNvSpPr/>
          <p:nvPr/>
        </p:nvSpPr>
        <p:spPr>
          <a:xfrm>
            <a:off x="5100340" y="2202061"/>
            <a:ext cx="20510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5590F"/>
                </a:solidFill>
                <a:latin typeface="Plus Jakarta Sans" pitchFamily="34" charset="0"/>
                <a:ea typeface="Plus Jakarta Sans" pitchFamily="34" charset="-122"/>
                <a:cs typeface="Plus Jakarta Sans" pitchFamily="34" charset="-120"/>
              </a:rPr>
              <a:t>Months 4–6</a:t>
            </a:r>
            <a:endParaRPr lang="en-US" sz="1200" dirty="0"/>
          </a:p>
        </p:txBody>
      </p:sp>
      <p:sp>
        <p:nvSpPr>
          <p:cNvPr id="14" name="Text 12"/>
          <p:cNvSpPr/>
          <p:nvPr/>
        </p:nvSpPr>
        <p:spPr>
          <a:xfrm>
            <a:off x="5100340" y="2516981"/>
            <a:ext cx="20510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1A"/>
                </a:solidFill>
                <a:latin typeface="Plus Jakarta Sans" pitchFamily="34" charset="0"/>
                <a:ea typeface="Plus Jakarta Sans" pitchFamily="34" charset="-122"/>
                <a:cs typeface="Plus Jakarta Sans" pitchFamily="34" charset="-120"/>
              </a:rPr>
              <a:t>Plans paid</a:t>
            </a:r>
            <a:endParaRPr lang="en-US" sz="1600" dirty="0"/>
          </a:p>
        </p:txBody>
      </p:sp>
      <p:sp>
        <p:nvSpPr>
          <p:cNvPr id="15" name="Text 13"/>
          <p:cNvSpPr/>
          <p:nvPr/>
        </p:nvSpPr>
        <p:spPr>
          <a:xfrm>
            <a:off x="5100340" y="2862362"/>
            <a:ext cx="20510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751"/>
                </a:solidFill>
                <a:latin typeface="Plus Jakarta Sans" pitchFamily="34" charset="0"/>
                <a:ea typeface="Plus Jakarta Sans" pitchFamily="34" charset="-122"/>
                <a:cs typeface="Plus Jakarta Sans" pitchFamily="34" charset="-120"/>
              </a:rPr>
              <a:t>Turn on paid plans with reminders and a grace period.</a:t>
            </a:r>
            <a:endParaRPr lang="en-US" sz="1200" dirty="0"/>
          </a:p>
        </p:txBody>
      </p:sp>
      <p:sp>
        <p:nvSpPr>
          <p:cNvPr id="16" name="Shape 14"/>
          <p:cNvSpPr/>
          <p:nvPr/>
        </p:nvSpPr>
        <p:spPr>
          <a:xfrm>
            <a:off x="7244060" y="2005211"/>
            <a:ext cx="1991420" cy="0"/>
          </a:xfrm>
          <a:prstGeom prst="line">
            <a:avLst/>
          </a:prstGeom>
          <a:noFill/>
          <a:ln w="38100">
            <a:solidFill>
              <a:srgbClr val="0E5A43"/>
            </a:solidFill>
            <a:prstDash val="solid"/>
          </a:ln>
        </p:spPr>
      </p:sp>
      <p:sp>
        <p:nvSpPr>
          <p:cNvPr id="17" name="Text 15"/>
          <p:cNvSpPr/>
          <p:nvPr/>
        </p:nvSpPr>
        <p:spPr>
          <a:xfrm>
            <a:off x="7244060" y="2202061"/>
            <a:ext cx="20511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5590F"/>
                </a:solidFill>
                <a:latin typeface="Plus Jakarta Sans" pitchFamily="34" charset="0"/>
                <a:ea typeface="Plus Jakarta Sans" pitchFamily="34" charset="-122"/>
                <a:cs typeface="Plus Jakarta Sans" pitchFamily="34" charset="-120"/>
              </a:rPr>
              <a:t>Months 7–12</a:t>
            </a:r>
            <a:endParaRPr lang="en-US" sz="1200" dirty="0"/>
          </a:p>
        </p:txBody>
      </p:sp>
      <p:sp>
        <p:nvSpPr>
          <p:cNvPr id="18" name="Text 16"/>
          <p:cNvSpPr/>
          <p:nvPr/>
        </p:nvSpPr>
        <p:spPr>
          <a:xfrm>
            <a:off x="7244060" y="2516981"/>
            <a:ext cx="205116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1A"/>
                </a:solidFill>
                <a:latin typeface="Plus Jakarta Sans" pitchFamily="34" charset="0"/>
                <a:ea typeface="Plus Jakarta Sans" pitchFamily="34" charset="-122"/>
                <a:cs typeface="Plus Jakarta Sans" pitchFamily="34" charset="-120"/>
              </a:rPr>
              <a:t>Grow in Sodo</a:t>
            </a:r>
            <a:endParaRPr lang="en-US" sz="1600" dirty="0"/>
          </a:p>
        </p:txBody>
      </p:sp>
      <p:sp>
        <p:nvSpPr>
          <p:cNvPr id="19" name="Text 17"/>
          <p:cNvSpPr/>
          <p:nvPr/>
        </p:nvSpPr>
        <p:spPr>
          <a:xfrm>
            <a:off x="7244060" y="2862362"/>
            <a:ext cx="205116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751"/>
                </a:solidFill>
                <a:latin typeface="Plus Jakarta Sans" pitchFamily="34" charset="0"/>
                <a:ea typeface="Plus Jakarta Sans" pitchFamily="34" charset="-122"/>
                <a:cs typeface="Plus Jakarta Sans" pitchFamily="34" charset="-120"/>
              </a:rPr>
              <a:t>More categories and workers. Launch the phone app.</a:t>
            </a:r>
            <a:endParaRPr lang="en-US" sz="1200" dirty="0"/>
          </a:p>
        </p:txBody>
      </p:sp>
      <p:sp>
        <p:nvSpPr>
          <p:cNvPr id="20" name="Shape 18"/>
          <p:cNvSpPr/>
          <p:nvPr/>
        </p:nvSpPr>
        <p:spPr>
          <a:xfrm>
            <a:off x="9387880" y="2005211"/>
            <a:ext cx="1991320" cy="0"/>
          </a:xfrm>
          <a:prstGeom prst="line">
            <a:avLst/>
          </a:prstGeom>
          <a:noFill/>
          <a:ln w="38100">
            <a:solidFill>
              <a:srgbClr val="E39B2D"/>
            </a:solidFill>
            <a:prstDash val="solid"/>
          </a:ln>
        </p:spPr>
      </p:sp>
      <p:sp>
        <p:nvSpPr>
          <p:cNvPr id="21" name="Text 19"/>
          <p:cNvSpPr/>
          <p:nvPr/>
        </p:nvSpPr>
        <p:spPr>
          <a:xfrm>
            <a:off x="9387880" y="2202061"/>
            <a:ext cx="20510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5590F"/>
                </a:solidFill>
                <a:latin typeface="Plus Jakarta Sans" pitchFamily="34" charset="0"/>
                <a:ea typeface="Plus Jakarta Sans" pitchFamily="34" charset="-122"/>
                <a:cs typeface="Plus Jakarta Sans" pitchFamily="34" charset="-120"/>
              </a:rPr>
              <a:t>Months 13–24</a:t>
            </a:r>
            <a:endParaRPr lang="en-US" sz="1200" dirty="0"/>
          </a:p>
        </p:txBody>
      </p:sp>
      <p:sp>
        <p:nvSpPr>
          <p:cNvPr id="22" name="Text 20"/>
          <p:cNvSpPr/>
          <p:nvPr/>
        </p:nvSpPr>
        <p:spPr>
          <a:xfrm>
            <a:off x="9387880" y="2516981"/>
            <a:ext cx="20510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1A"/>
                </a:solidFill>
                <a:latin typeface="Plus Jakarta Sans" pitchFamily="34" charset="0"/>
                <a:ea typeface="Plus Jakarta Sans" pitchFamily="34" charset="-122"/>
                <a:cs typeface="Plus Jakarta Sans" pitchFamily="34" charset="-120"/>
              </a:rPr>
              <a:t>New towns</a:t>
            </a:r>
            <a:endParaRPr lang="en-US" sz="1600" dirty="0"/>
          </a:p>
        </p:txBody>
      </p:sp>
      <p:sp>
        <p:nvSpPr>
          <p:cNvPr id="23" name="Text 21"/>
          <p:cNvSpPr/>
          <p:nvPr/>
        </p:nvSpPr>
        <p:spPr>
          <a:xfrm>
            <a:off x="9387880" y="2862362"/>
            <a:ext cx="20510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751"/>
                </a:solidFill>
                <a:latin typeface="Plus Jakarta Sans" pitchFamily="34" charset="0"/>
                <a:ea typeface="Plus Jakarta Sans" pitchFamily="34" charset="-122"/>
                <a:cs typeface="Plus Jakarta Sans" pitchFamily="34" charset="-120"/>
              </a:rPr>
              <a:t>Grow the team. Open Areka and Boditi, then more.</a:t>
            </a:r>
            <a:endParaRPr lang="en-US" sz="1200" dirty="0"/>
          </a:p>
        </p:txBody>
      </p:sp>
      <p:sp>
        <p:nvSpPr>
          <p:cNvPr id="24" name="Text 22"/>
          <p:cNvSpPr/>
          <p:nvPr/>
        </p:nvSpPr>
        <p:spPr>
          <a:xfrm>
            <a:off x="812800" y="3857923"/>
            <a:ext cx="1991320" cy="629841"/>
          </a:xfrm>
          <a:prstGeom prst="roundRect">
            <a:avLst>
              <a:gd name="adj" fmla="val 12098"/>
            </a:avLst>
          </a:prstGeom>
          <a:solidFill>
            <a:srgbClr val="E8F0EC"/>
          </a:solidFill>
          <a:ln/>
        </p:spPr>
        <p:txBody>
          <a:bodyPr wrap="square" lIns="104682" tIns="79282" rIns="52562" bIns="53882" rtlCol="0" anchor="t">
            <a:normAutofit/>
          </a:bodyPr>
          <a:lstStyle/>
          <a:p>
            <a:pPr algn="l" indent="0" marL="0">
              <a:lnSpc>
                <a:spcPts val="1680"/>
              </a:lnSpc>
              <a:buNone/>
            </a:pPr>
            <a:r>
              <a:rPr lang="en-US" sz="1200" b="1" dirty="0">
                <a:solidFill>
                  <a:srgbClr val="0E5A43"/>
                </a:solidFill>
                <a:latin typeface="Plus Jakarta Sans" pitchFamily="34" charset="0"/>
                <a:ea typeface="Plus Jakarta Sans" pitchFamily="34" charset="-122"/>
                <a:cs typeface="Plus Jakarta Sans" pitchFamily="34" charset="-120"/>
              </a:rPr>
              <a:t>Ready to launch</a:t>
            </a:r>
            <a:endParaRPr lang="en-US" sz="1200" dirty="0"/>
          </a:p>
        </p:txBody>
      </p:sp>
      <p:sp>
        <p:nvSpPr>
          <p:cNvPr id="25" name="Text 23"/>
          <p:cNvSpPr/>
          <p:nvPr/>
        </p:nvSpPr>
        <p:spPr>
          <a:xfrm>
            <a:off x="2956520" y="3857923"/>
            <a:ext cx="1991420" cy="629841"/>
          </a:xfrm>
          <a:prstGeom prst="roundRect">
            <a:avLst>
              <a:gd name="adj" fmla="val 12098"/>
            </a:avLst>
          </a:prstGeom>
          <a:solidFill>
            <a:srgbClr val="E8F0EC"/>
          </a:solidFill>
          <a:ln/>
        </p:spPr>
        <p:txBody>
          <a:bodyPr wrap="square" lIns="104682" tIns="79282" rIns="52559" bIns="53882" rtlCol="0" anchor="t">
            <a:normAutofit/>
          </a:bodyPr>
          <a:lstStyle/>
          <a:p>
            <a:pPr algn="l" indent="0" marL="0">
              <a:lnSpc>
                <a:spcPts val="1680"/>
              </a:lnSpc>
              <a:buNone/>
            </a:pPr>
            <a:r>
              <a:rPr lang="en-US" sz="1200" b="1" dirty="0">
                <a:solidFill>
                  <a:srgbClr val="0E5A43"/>
                </a:solidFill>
                <a:latin typeface="Plus Jakarta Sans" pitchFamily="34" charset="0"/>
                <a:ea typeface="Plus Jakarta Sans" pitchFamily="34" charset="-122"/>
                <a:cs typeface="Plus Jakarta Sans" pitchFamily="34" charset="-120"/>
              </a:rPr>
              <a:t>50 verified shops</a:t>
            </a:r>
            <a:endParaRPr lang="en-US" sz="1200" dirty="0"/>
          </a:p>
        </p:txBody>
      </p:sp>
      <p:sp>
        <p:nvSpPr>
          <p:cNvPr id="26" name="Text 24"/>
          <p:cNvSpPr/>
          <p:nvPr/>
        </p:nvSpPr>
        <p:spPr>
          <a:xfrm>
            <a:off x="5100340" y="3857923"/>
            <a:ext cx="1991320" cy="629841"/>
          </a:xfrm>
          <a:prstGeom prst="roundRect">
            <a:avLst>
              <a:gd name="adj" fmla="val 12098"/>
            </a:avLst>
          </a:prstGeom>
          <a:solidFill>
            <a:srgbClr val="E8F0EC"/>
          </a:solidFill>
          <a:ln/>
        </p:spPr>
        <p:txBody>
          <a:bodyPr wrap="square" lIns="104682" tIns="79282" rIns="52562" bIns="53882" rtlCol="0" anchor="t">
            <a:normAutofit/>
          </a:bodyPr>
          <a:lstStyle/>
          <a:p>
            <a:pPr algn="l" indent="0" marL="0">
              <a:lnSpc>
                <a:spcPts val="1680"/>
              </a:lnSpc>
              <a:buNone/>
            </a:pPr>
            <a:r>
              <a:rPr lang="en-US" sz="1200" b="1" dirty="0">
                <a:solidFill>
                  <a:srgbClr val="0E5A43"/>
                </a:solidFill>
                <a:latin typeface="Plus Jakarta Sans" pitchFamily="34" charset="0"/>
                <a:ea typeface="Plus Jakarta Sans" pitchFamily="34" charset="-122"/>
                <a:cs typeface="Plus Jakarta Sans" pitchFamily="34" charset="-120"/>
              </a:rPr>
              <a:t>38+ payers, costs covered</a:t>
            </a:r>
            <a:endParaRPr lang="en-US" sz="1200" dirty="0"/>
          </a:p>
        </p:txBody>
      </p:sp>
      <p:sp>
        <p:nvSpPr>
          <p:cNvPr id="27" name="Text 25"/>
          <p:cNvSpPr/>
          <p:nvPr/>
        </p:nvSpPr>
        <p:spPr>
          <a:xfrm>
            <a:off x="7244060" y="3857923"/>
            <a:ext cx="1991420" cy="629841"/>
          </a:xfrm>
          <a:prstGeom prst="roundRect">
            <a:avLst>
              <a:gd name="adj" fmla="val 12098"/>
            </a:avLst>
          </a:prstGeom>
          <a:solidFill>
            <a:srgbClr val="E8F0EC"/>
          </a:solidFill>
          <a:ln/>
        </p:spPr>
        <p:txBody>
          <a:bodyPr wrap="square" lIns="104682" tIns="79282" rIns="52559" bIns="53882" rtlCol="0" anchor="t">
            <a:normAutofit/>
          </a:bodyPr>
          <a:lstStyle/>
          <a:p>
            <a:pPr algn="l" indent="0" marL="0">
              <a:lnSpc>
                <a:spcPts val="1680"/>
              </a:lnSpc>
              <a:buNone/>
            </a:pPr>
            <a:r>
              <a:rPr lang="en-US" sz="1200" b="1" dirty="0">
                <a:solidFill>
                  <a:srgbClr val="0E5A43"/>
                </a:solidFill>
                <a:latin typeface="Plus Jakarta Sans" pitchFamily="34" charset="0"/>
                <a:ea typeface="Plus Jakarta Sans" pitchFamily="34" charset="-122"/>
                <a:cs typeface="Plus Jakarta Sans" pitchFamily="34" charset="-120"/>
              </a:rPr>
              <a:t>100 paying sellers</a:t>
            </a:r>
            <a:endParaRPr lang="en-US" sz="1200" dirty="0"/>
          </a:p>
        </p:txBody>
      </p:sp>
      <p:sp>
        <p:nvSpPr>
          <p:cNvPr id="28" name="Text 26"/>
          <p:cNvSpPr/>
          <p:nvPr/>
        </p:nvSpPr>
        <p:spPr>
          <a:xfrm>
            <a:off x="9387880" y="3857923"/>
            <a:ext cx="1991320" cy="629841"/>
          </a:xfrm>
          <a:prstGeom prst="roundRect">
            <a:avLst>
              <a:gd name="adj" fmla="val 12098"/>
            </a:avLst>
          </a:prstGeom>
          <a:solidFill>
            <a:srgbClr val="FBEBD2"/>
          </a:solidFill>
          <a:ln/>
        </p:spPr>
        <p:txBody>
          <a:bodyPr wrap="square" lIns="104682" tIns="79282" rIns="52562" bIns="53882" rtlCol="0" anchor="t">
            <a:normAutofit/>
          </a:bodyPr>
          <a:lstStyle/>
          <a:p>
            <a:pPr algn="l" indent="0" marL="0">
              <a:lnSpc>
                <a:spcPts val="1680"/>
              </a:lnSpc>
              <a:buNone/>
            </a:pPr>
            <a:r>
              <a:rPr lang="en-US" sz="1200" b="1" dirty="0">
                <a:solidFill>
                  <a:srgbClr val="6B400A"/>
                </a:solidFill>
                <a:latin typeface="Plus Jakarta Sans" pitchFamily="34" charset="0"/>
                <a:ea typeface="Plus Jakarta Sans" pitchFamily="34" charset="-122"/>
                <a:cs typeface="Plus Jakarta Sans" pitchFamily="34" charset="-120"/>
              </a:rPr>
              <a:t>240+ paying sellers</a:t>
            </a:r>
            <a:endParaRPr lang="en-US" sz="12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36C"/>
                </a:solidFill>
                <a:latin typeface="Plus Jakarta Sans" pitchFamily="34" charset="0"/>
                <a:ea typeface="Plus Jakarta Sans" pitchFamily="34" charset="-122"/>
                <a:cs typeface="Plus Jakarta Sans" pitchFamily="34" charset="-120"/>
              </a:rPr>
              <a:t>Sodo Gebeya · System overview · 18 · Bottom row: the target for each step</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590F"/>
                </a:solidFill>
                <a:latin typeface="Plus Jakarta Sans" pitchFamily="34" charset="0"/>
                <a:ea typeface="Plus Jakarta Sans" pitchFamily="34" charset="-122"/>
                <a:cs typeface="Plus Jakarta Sans" pitchFamily="34" charset="-120"/>
              </a:rPr>
              <a:t>RISKS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3201A"/>
                </a:solidFill>
                <a:latin typeface="Plus Jakarta Sans" pitchFamily="34" charset="0"/>
                <a:ea typeface="Plus Jakarta Sans" pitchFamily="34" charset="-122"/>
                <a:cs typeface="Plus Jakarta Sans" pitchFamily="34" charset="-120"/>
              </a:rPr>
              <a:t>What could go wrong, and our answer</a:t>
            </a:r>
            <a:endParaRPr lang="en-US" sz="3600" dirty="0"/>
          </a:p>
        </p:txBody>
      </p:sp>
      <p:sp>
        <p:nvSpPr>
          <p:cNvPr id="4" name="Shape 2"/>
          <p:cNvSpPr/>
          <p:nvPr/>
        </p:nvSpPr>
        <p:spPr>
          <a:xfrm>
            <a:off x="812800" y="1935361"/>
            <a:ext cx="10566400" cy="2405757"/>
          </a:xfrm>
          <a:prstGeom prst="roundRect">
            <a:avLst>
              <a:gd name="adj" fmla="val 4223"/>
            </a:avLst>
          </a:prstGeom>
          <a:solidFill>
            <a:srgbClr val="FFFEFA"/>
          </a:solidFill>
          <a:ln/>
        </p:spPr>
      </p:sp>
      <p:sp>
        <p:nvSpPr>
          <p:cNvPr id="5" name="Shape 3"/>
          <p:cNvSpPr/>
          <p:nvPr/>
        </p:nvSpPr>
        <p:spPr>
          <a:xfrm>
            <a:off x="812800" y="1935361"/>
            <a:ext cx="10566400" cy="2405757"/>
          </a:xfrm>
          <a:custGeom>
            <a:avLst/>
            <a:gdLst/>
            <a:ahLst/>
            <a:cxnLst/>
            <a:rect l="l" t="t" r="r" b="b"/>
            <a:pathLst>
              <a:path w="10566400" h="2405757">
                <a:moveTo>
                  <a:pt x="10464800" y="0"/>
                </a:moveTo>
                <a:lnTo>
                  <a:pt x="10464800" y="0"/>
                </a:lnTo>
                <a:arcTo hR="101600" wR="101600" stAng="16200000" swAng="5400000"/>
                <a:lnTo>
                  <a:pt x="10566400" y="2304157"/>
                </a:lnTo>
                <a:arcTo hR="101600" wR="101600" stAng="0" swAng="5400000"/>
                <a:lnTo>
                  <a:pt x="101600" y="2405757"/>
                </a:lnTo>
                <a:arcTo hR="101600" wR="101600" stAng="5400000" swAng="5400000"/>
                <a:lnTo>
                  <a:pt x="0" y="2304157"/>
                </a:lnTo>
                <a:arcTo hR="95250" wR="101600" stAng="10800000" swAng="-5400000"/>
                <a:lnTo>
                  <a:pt x="10464800" y="2399407"/>
                </a:lnTo>
                <a:arcTo hR="95250" wR="95250" stAng="5400000" swAng="-5400000"/>
                <a:lnTo>
                  <a:pt x="10560050" y="101600"/>
                </a:lnTo>
                <a:arcTo hR="101600" wR="95250" stAng="0" swAng="-5400000"/>
                <a:close/>
              </a:path>
            </a:pathLst>
          </a:custGeom>
          <a:solidFill>
            <a:srgbClr val="E2DED3"/>
          </a:solidFill>
          <a:ln/>
        </p:spPr>
      </p:sp>
      <p:sp>
        <p:nvSpPr>
          <p:cNvPr id="6" name="Shape 4"/>
          <p:cNvSpPr/>
          <p:nvPr/>
        </p:nvSpPr>
        <p:spPr>
          <a:xfrm>
            <a:off x="812800" y="1935361"/>
            <a:ext cx="10566400" cy="2405757"/>
          </a:xfrm>
          <a:custGeom>
            <a:avLst/>
            <a:gdLst/>
            <a:ahLst/>
            <a:cxnLst/>
            <a:rect l="l" t="t" r="r" b="b"/>
            <a:pathLst>
              <a:path w="10566400" h="2405757">
                <a:moveTo>
                  <a:pt x="101600" y="2405757"/>
                </a:moveTo>
                <a:lnTo>
                  <a:pt x="101600" y="2405757"/>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304157"/>
                </a:lnTo>
                <a:arcTo hR="101600" wR="889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948061"/>
          <a:ext cx="10547350" cy="2386707"/>
        </p:xfrm>
        <a:graphic>
          <a:graphicData uri="http://schemas.openxmlformats.org/drawingml/2006/table">
            <a:tbl>
              <a:tblPr/>
              <a:tblGrid>
                <a:gridCol w="4007993"/>
                <a:gridCol w="6539357"/>
              </a:tblGrid>
              <a:tr h="359271">
                <a:tc>
                  <a:txBody>
                    <a:bodyPr/>
                    <a:lstStyle/>
                    <a:p>
                      <a:pPr indent="0" marL="0">
                        <a:lnSpc>
                          <a:spcPts val="1820"/>
                        </a:lnSpc>
                        <a:buNone/>
                      </a:pPr>
                      <a:r>
                        <a:rPr lang="en-US" sz="1300" b="1" dirty="0">
                          <a:solidFill>
                            <a:srgbClr val="F6F4EE"/>
                          </a:solidFill>
                          <a:latin typeface="Plus Jakarta Sans" pitchFamily="34" charset="0"/>
                          <a:ea typeface="Plus Jakarta Sans" pitchFamily="34" charset="-122"/>
                          <a:cs typeface="Plus Jakarta Sans" pitchFamily="34" charset="-120"/>
                        </a:rPr>
                        <a:t>Risk</a:t>
                      </a:r>
                      <a:endParaRPr lang="en-US" sz="1300" dirty="0">
                        <a:latin typeface="Plus Jakarta Sans" charset="0"/>
                        <a:ea typeface="Plus Jakarta Sans" charset="0"/>
                        <a:cs typeface="Plus Jakarta Sans" charset="0"/>
                      </a:endParaRPr>
                    </a:p>
                  </a:txBody>
                  <a:tcPr marL="57785" marR="57785" marT="57785" marB="57785" anchor="t">
                    <a:lnL w="0" cap="flat" cmpd="sng" algn="ctr">
                      <a:noFill/>
                    </a:lnL>
                    <a:lnR w="12700" cap="flat" cmpd="sng" algn="ctr">
                      <a:solidFill>
                        <a:srgbClr val="0F4B38"/>
                      </a:solidFill>
                      <a:prstDash val="solid"/>
                      <a:round/>
                      <a:headEnd type="none" w="med" len="med"/>
                      <a:tailEnd type="none" w="med" len="med"/>
                    </a:lnR>
                    <a:lnT w="0" cap="flat" cmpd="sng" algn="ctr">
                      <a:noFill/>
                    </a:lnT>
                    <a:lnB w="12700" cap="flat" cmpd="sng" algn="ctr">
                      <a:solidFill>
                        <a:srgbClr val="0F4B38"/>
                      </a:solidFill>
                      <a:prstDash val="solid"/>
                      <a:round/>
                      <a:headEnd type="none" w="med" len="med"/>
                      <a:tailEnd type="none" w="med" len="med"/>
                    </a:lnB>
                    <a:solidFill>
                      <a:srgbClr val="0E5A43"/>
                    </a:solidFill>
                  </a:tcPr>
                </a:tc>
                <a:tc>
                  <a:txBody>
                    <a:bodyPr/>
                    <a:lstStyle/>
                    <a:p>
                      <a:pPr indent="0" marL="0">
                        <a:lnSpc>
                          <a:spcPts val="1820"/>
                        </a:lnSpc>
                        <a:buNone/>
                      </a:pPr>
                      <a:r>
                        <a:rPr lang="en-US" sz="1300" b="1" dirty="0">
                          <a:solidFill>
                            <a:srgbClr val="F6F4EE"/>
                          </a:solidFill>
                          <a:latin typeface="Plus Jakarta Sans" pitchFamily="34" charset="0"/>
                          <a:ea typeface="Plus Jakarta Sans" pitchFamily="34" charset="-122"/>
                          <a:cs typeface="Plus Jakarta Sans" pitchFamily="34" charset="-120"/>
                        </a:rPr>
                        <a:t>Our answer</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0F4B38"/>
                      </a:solidFill>
                      <a:prstDash val="solid"/>
                      <a:round/>
                      <a:headEnd type="none" w="med" len="med"/>
                      <a:tailEnd type="none" w="med" len="med"/>
                    </a:lnL>
                    <a:lnR w="12700" cap="flat" cmpd="sng" algn="ctr">
                      <a:solidFill>
                        <a:srgbClr val="0F4B38"/>
                      </a:solidFill>
                      <a:prstDash val="solid"/>
                      <a:round/>
                      <a:headEnd type="none" w="med" len="med"/>
                      <a:tailEnd type="none" w="med" len="med"/>
                    </a:lnR>
                    <a:lnT w="0" cap="flat" cmpd="sng" algn="ctr">
                      <a:noFill/>
                    </a:lnT>
                    <a:lnB w="12700" cap="flat" cmpd="sng" algn="ctr">
                      <a:solidFill>
                        <a:srgbClr val="0F4B38"/>
                      </a:solidFill>
                      <a:prstDash val="solid"/>
                      <a:round/>
                      <a:headEnd type="none" w="med" len="med"/>
                      <a:tailEnd type="none" w="med" len="med"/>
                    </a:lnB>
                    <a:solidFill>
                      <a:srgbClr val="0E5A43"/>
                    </a:solidFill>
                  </a:tcPr>
                </a:tc>
              </a:tr>
              <a:tr h="590352">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Sellers stop paying</a:t>
                      </a:r>
                      <a:endParaRPr lang="en-US" sz="1300" dirty="0">
                        <a:latin typeface="Plus Jakarta Sans" charset="0"/>
                        <a:ea typeface="Plus Jakarta Sans" charset="0"/>
                        <a:cs typeface="Plus Jakarta Sans" charset="0"/>
                      </a:endParaRPr>
                    </a:p>
                  </a:txBody>
                  <a:tcPr marL="57785" marR="57785" marT="57785" marB="57785" anchor="t">
                    <a:lnL w="0" cap="flat" cmpd="sng" algn="ctr">
                      <a:noFill/>
                    </a:lnL>
                    <a:lnR w="12700" cap="flat" cmpd="sng" algn="ctr">
                      <a:solidFill>
                        <a:srgbClr val="CBCBC7"/>
                      </a:solidFill>
                      <a:prstDash val="solid"/>
                      <a:round/>
                      <a:headEnd type="none" w="med" len="med"/>
                      <a:tailEnd type="none" w="med" len="med"/>
                    </a:lnR>
                    <a:lnT w="12700" cap="flat" cmpd="sng" algn="ctr">
                      <a:solidFill>
                        <a:srgbClr val="0F4B38"/>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Bring buyers first: Telegram, posters, the airtime streak. Monthly report shows what each plan brings.</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0F4B38"/>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r>
              <a:tr h="359271">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Scams and fake sellers</a:t>
                      </a:r>
                      <a:endParaRPr lang="en-US" sz="1300" dirty="0">
                        <a:latin typeface="Plus Jakarta Sans" charset="0"/>
                        <a:ea typeface="Plus Jakarta Sans" charset="0"/>
                        <a:cs typeface="Plus Jakarta Sans" charset="0"/>
                      </a:endParaRPr>
                    </a:p>
                  </a:txBody>
                  <a:tcPr marL="57785" marR="57785" marT="57785" marB="57785" anchor="t">
                    <a:lnL w="0" cap="flat" cmpd="sng" algn="ctr">
                      <a:noFill/>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KYC, Verified badge, post review, held payment and reviews.</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0BEB7"/>
                      </a:solidFill>
                      <a:prstDash val="solid"/>
                      <a:round/>
                      <a:headEnd type="none" w="med" len="med"/>
                      <a:tailEnd type="none" w="med" len="med"/>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r>
              <a:tr h="359271">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Fake invites to earn rewards</a:t>
                      </a:r>
                      <a:endParaRPr lang="en-US" sz="1300" dirty="0">
                        <a:latin typeface="Plus Jakarta Sans" charset="0"/>
                        <a:ea typeface="Plus Jakarta Sans" charset="0"/>
                        <a:cs typeface="Plus Jakarta Sans" charset="0"/>
                      </a:endParaRPr>
                    </a:p>
                  </a:txBody>
                  <a:tcPr marL="57785" marR="57785" marT="57785" marB="57785" anchor="t">
                    <a:lnL w="0" cap="flat" cmpd="sng" algn="ctr">
                      <a:noFill/>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Paid only after KYC and an approved post. 7-day hold, 10 invites max.</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r>
              <a:tr h="359271">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People stay on Telegram</a:t>
                      </a:r>
                      <a:endParaRPr lang="en-US" sz="1300" dirty="0">
                        <a:latin typeface="Plus Jakarta Sans" charset="0"/>
                        <a:ea typeface="Plus Jakarta Sans" charset="0"/>
                        <a:cs typeface="Plus Jakarta Sans" charset="0"/>
                      </a:endParaRPr>
                    </a:p>
                  </a:txBody>
                  <a:tcPr marL="57785" marR="57785" marT="57785" marB="57785" anchor="t">
                    <a:lnL w="0" cap="flat" cmpd="sng" algn="ctr">
                      <a:noFill/>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Pro items are auto-shared to our Telegram channel, linking back to the app.</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0BEB7"/>
                      </a:solidFill>
                      <a:prstDash val="solid"/>
                      <a:round/>
                      <a:headEnd type="none" w="med" len="med"/>
                      <a:tailEnd type="none" w="med" len="med"/>
                    </a:lnL>
                    <a:lnR w="12700" cap="flat" cmpd="sng" algn="ctr">
                      <a:solidFill>
                        <a:srgbClr val="C0BEB7"/>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C0BEB7"/>
                      </a:solidFill>
                      <a:prstDash val="solid"/>
                      <a:round/>
                      <a:headEnd type="none" w="med" len="med"/>
                      <a:tailEnd type="none" w="med" len="med"/>
                    </a:lnB>
                    <a:solidFill>
                      <a:srgbClr val="F1EEE5"/>
                    </a:solidFill>
                  </a:tcPr>
                </a:tc>
              </a:tr>
              <a:tr h="359271">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Rules on prize draws</a:t>
                      </a:r>
                      <a:endParaRPr lang="en-US" sz="1300" dirty="0">
                        <a:latin typeface="Plus Jakarta Sans" charset="0"/>
                        <a:ea typeface="Plus Jakarta Sans" charset="0"/>
                        <a:cs typeface="Plus Jakarta Sans" charset="0"/>
                      </a:endParaRPr>
                    </a:p>
                  </a:txBody>
                  <a:tcPr marL="57785" marR="57785" marT="57785" marB="57785" anchor="t">
                    <a:lnL w="0" cap="flat" cmpd="sng" algn="ctr">
                      <a:noFill/>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c>
                  <a:txBody>
                    <a:bodyPr/>
                    <a:lstStyle/>
                    <a:p>
                      <a:pPr indent="0" marL="0">
                        <a:lnSpc>
                          <a:spcPts val="1820"/>
                        </a:lnSpc>
                        <a:buNone/>
                      </a:pPr>
                      <a:r>
                        <a:rPr lang="en-US" sz="1300" dirty="0">
                          <a:solidFill>
                            <a:srgbClr val="13201A"/>
                          </a:solidFill>
                          <a:latin typeface="Plus Jakarta Sans" pitchFamily="34" charset="0"/>
                          <a:ea typeface="Plus Jakarta Sans" pitchFamily="34" charset="-122"/>
                          <a:cs typeface="Plus Jakarta Sans" pitchFamily="34" charset="-120"/>
                        </a:rPr>
                        <a:t>The streak is a guaranteed reward for everyone, not a lucky draw.</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C0BEB7"/>
                      </a:solidFill>
                      <a:prstDash val="solid"/>
                      <a:round/>
                      <a:headEnd type="none" w="med" len="med"/>
                      <a:tailEnd type="none" w="med" len="med"/>
                    </a:lnT>
                    <a:lnB w="12700" cap="flat" cmpd="sng" algn="ctr">
                      <a:solidFill>
                        <a:srgbClr val="CBCBC7"/>
                      </a:solidFill>
                      <a:prstDash val="solid"/>
                      <a:round/>
                      <a:headEnd type="none" w="med" len="med"/>
                      <a:tailEnd type="none" w="med" len="med"/>
                    </a:lnB>
                  </a:tcPr>
                </a:tc>
              </a:tr>
            </a:tbl>
          </a:graphicData>
        </a:graphic>
      </p:graphicFrame>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36C"/>
                </a:solidFill>
                <a:latin typeface="Plus Jakarta Sans" pitchFamily="34" charset="0"/>
                <a:ea typeface="Plus Jakarta Sans" pitchFamily="34" charset="-122"/>
                <a:cs typeface="Plus Jakarta Sans" pitchFamily="34" charset="-120"/>
              </a:rPr>
              <a:t>Sodo Gebeya · System overview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5A43"/>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E5A43"/>
              </a:gs>
              <a:gs pos="100000">
                <a:srgbClr val="0A3B2C"/>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39B2D"/>
                </a:solidFill>
                <a:latin typeface="Plus Jakarta Sans" pitchFamily="34" charset="0"/>
                <a:ea typeface="Plus Jakarta Sans" pitchFamily="34" charset="-122"/>
                <a:cs typeface="Plus Jakarta Sans" pitchFamily="34" charset="-120"/>
              </a:rPr>
              <a:t>NEXT STEPS</a:t>
            </a:r>
            <a:endParaRPr lang="en-US" sz="1200" dirty="0"/>
          </a:p>
        </p:txBody>
      </p:sp>
      <p:sp>
        <p:nvSpPr>
          <p:cNvPr id="4" name="Text 2"/>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F6F4EE"/>
                </a:solidFill>
                <a:latin typeface="Plus Jakarta Sans" pitchFamily="34" charset="0"/>
                <a:ea typeface="Plus Jakarta Sans" pitchFamily="34" charset="-122"/>
                <a:cs typeface="Plus Jakarta Sans" pitchFamily="34" charset="-120"/>
              </a:rPr>
              <a:t>Start small, prove it in Sodo</a:t>
            </a:r>
            <a:endParaRPr lang="en-US" sz="3600" dirty="0"/>
          </a:p>
        </p:txBody>
      </p:sp>
      <p:sp>
        <p:nvSpPr>
          <p:cNvPr id="5" name="Text 3"/>
          <p:cNvSpPr/>
          <p:nvPr/>
        </p:nvSpPr>
        <p:spPr>
          <a:xfrm>
            <a:off x="812800" y="3022699"/>
            <a:ext cx="2563876"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39B2D"/>
                </a:solidFill>
                <a:latin typeface="Plus Jakarta Sans" pitchFamily="34" charset="0"/>
                <a:ea typeface="Plus Jakarta Sans" pitchFamily="34" charset="-122"/>
                <a:cs typeface="Plus Jakarta Sans" pitchFamily="34" charset="-120"/>
              </a:rPr>
              <a:t>1</a:t>
            </a:r>
            <a:endParaRPr lang="en-US" sz="2800" dirty="0"/>
          </a:p>
        </p:txBody>
      </p:sp>
      <p:sp>
        <p:nvSpPr>
          <p:cNvPr id="6" name="Text 4"/>
          <p:cNvSpPr/>
          <p:nvPr/>
        </p:nvSpPr>
        <p:spPr>
          <a:xfrm>
            <a:off x="812800" y="3596680"/>
            <a:ext cx="256387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4EE"/>
                </a:solidFill>
                <a:latin typeface="Plus Jakarta Sans" pitchFamily="34" charset="0"/>
                <a:ea typeface="Plus Jakarta Sans" pitchFamily="34" charset="-122"/>
                <a:cs typeface="Plus Jakarta Sans" pitchFamily="34" charset="-120"/>
              </a:rPr>
              <a:t>Talk with shops, workers and buyers in Sodo</a:t>
            </a:r>
            <a:endParaRPr lang="en-US" sz="1400" dirty="0"/>
          </a:p>
        </p:txBody>
      </p:sp>
      <p:sp>
        <p:nvSpPr>
          <p:cNvPr id="7" name="Text 5"/>
          <p:cNvSpPr/>
          <p:nvPr/>
        </p:nvSpPr>
        <p:spPr>
          <a:xfrm>
            <a:off x="3505200" y="3022699"/>
            <a:ext cx="2563876"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39B2D"/>
                </a:solidFill>
                <a:latin typeface="Plus Jakarta Sans" pitchFamily="34" charset="0"/>
                <a:ea typeface="Plus Jakarta Sans" pitchFamily="34" charset="-122"/>
                <a:cs typeface="Plus Jakarta Sans" pitchFamily="34" charset="-120"/>
              </a:rPr>
              <a:t>2</a:t>
            </a:r>
            <a:endParaRPr lang="en-US" sz="2800" dirty="0"/>
          </a:p>
        </p:txBody>
      </p:sp>
      <p:sp>
        <p:nvSpPr>
          <p:cNvPr id="8" name="Text 6"/>
          <p:cNvSpPr/>
          <p:nvPr/>
        </p:nvSpPr>
        <p:spPr>
          <a:xfrm>
            <a:off x="3505200" y="3596680"/>
            <a:ext cx="256387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4EE"/>
                </a:solidFill>
                <a:latin typeface="Plus Jakarta Sans" pitchFamily="34" charset="0"/>
                <a:ea typeface="Plus Jakarta Sans" pitchFamily="34" charset="-122"/>
                <a:cs typeface="Plus Jakarta Sans" pitchFamily="34" charset="-120"/>
              </a:rPr>
              <a:t>Finish the four plans and telebirr / BillPay payment</a:t>
            </a:r>
            <a:endParaRPr lang="en-US" sz="1400" dirty="0"/>
          </a:p>
        </p:txBody>
      </p:sp>
      <p:sp>
        <p:nvSpPr>
          <p:cNvPr id="9" name="Text 7"/>
          <p:cNvSpPr/>
          <p:nvPr/>
        </p:nvSpPr>
        <p:spPr>
          <a:xfrm>
            <a:off x="6197600" y="3022699"/>
            <a:ext cx="2563876"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39B2D"/>
                </a:solidFill>
                <a:latin typeface="Plus Jakarta Sans" pitchFamily="34" charset="0"/>
                <a:ea typeface="Plus Jakarta Sans" pitchFamily="34" charset="-122"/>
                <a:cs typeface="Plus Jakarta Sans" pitchFamily="34" charset="-120"/>
              </a:rPr>
              <a:t>3</a:t>
            </a:r>
            <a:endParaRPr lang="en-US" sz="2800" dirty="0"/>
          </a:p>
        </p:txBody>
      </p:sp>
      <p:sp>
        <p:nvSpPr>
          <p:cNvPr id="10" name="Text 8"/>
          <p:cNvSpPr/>
          <p:nvPr/>
        </p:nvSpPr>
        <p:spPr>
          <a:xfrm>
            <a:off x="6197600" y="3596680"/>
            <a:ext cx="256387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4EE"/>
                </a:solidFill>
                <a:latin typeface="Plus Jakarta Sans" pitchFamily="34" charset="0"/>
                <a:ea typeface="Plus Jakarta Sans" pitchFamily="34" charset="-122"/>
                <a:cs typeface="Plus Jakarta Sans" pitchFamily="34" charset="-120"/>
              </a:rPr>
              <a:t>Run the 3-month pilot with 50 verified shops</a:t>
            </a:r>
            <a:endParaRPr lang="en-US" sz="1400" dirty="0"/>
          </a:p>
        </p:txBody>
      </p:sp>
      <p:sp>
        <p:nvSpPr>
          <p:cNvPr id="11" name="Text 9"/>
          <p:cNvSpPr/>
          <p:nvPr/>
        </p:nvSpPr>
        <p:spPr>
          <a:xfrm>
            <a:off x="8890000" y="3022699"/>
            <a:ext cx="2563876"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39B2D"/>
                </a:solidFill>
                <a:latin typeface="Plus Jakarta Sans" pitchFamily="34" charset="0"/>
                <a:ea typeface="Plus Jakarta Sans" pitchFamily="34" charset="-122"/>
                <a:cs typeface="Plus Jakarta Sans" pitchFamily="34" charset="-120"/>
              </a:rPr>
              <a:t>4</a:t>
            </a:r>
            <a:endParaRPr lang="en-US" sz="2800" dirty="0"/>
          </a:p>
        </p:txBody>
      </p:sp>
      <p:sp>
        <p:nvSpPr>
          <p:cNvPr id="12" name="Text 10"/>
          <p:cNvSpPr/>
          <p:nvPr/>
        </p:nvSpPr>
        <p:spPr>
          <a:xfrm>
            <a:off x="8890000" y="3596680"/>
            <a:ext cx="256387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4EE"/>
                </a:solidFill>
                <a:latin typeface="Plus Jakarta Sans" pitchFamily="34" charset="0"/>
                <a:ea typeface="Plus Jakarta Sans" pitchFamily="34" charset="-122"/>
                <a:cs typeface="Plus Jakarta Sans" pitchFamily="34" charset="-120"/>
              </a:rPr>
              <a:t>At month 3: 30+ shops paying means go</a:t>
            </a:r>
            <a:endParaRPr lang="en-US" sz="1400" dirty="0"/>
          </a:p>
        </p:txBody>
      </p:sp>
      <p:pic>
        <p:nvPicPr>
          <p:cNvPr id="13" name="Image 0" descr="Sodo Gebeya logo">    </p:cNvPr>
          <p:cNvPicPr>
            <a:picLocks noChangeAspect="1"/>
          </p:cNvPicPr>
          <p:nvPr/>
        </p:nvPicPr>
        <p:blipFill>
          <a:blip r:embed="rId1"/>
          <a:srcRect l="0" r="0" t="0" b="0"/>
          <a:stretch/>
        </p:blipFill>
        <p:spPr>
          <a:xfrm>
            <a:off x="812800" y="5486400"/>
            <a:ext cx="558800" cy="558800"/>
          </a:xfrm>
          <a:prstGeom prst="rect">
            <a:avLst/>
          </a:prstGeom>
        </p:spPr>
      </p:pic>
      <p:sp>
        <p:nvSpPr>
          <p:cNvPr id="14" name="Text 11"/>
          <p:cNvSpPr/>
          <p:nvPr/>
        </p:nvSpPr>
        <p:spPr>
          <a:xfrm>
            <a:off x="1524000" y="5605760"/>
            <a:ext cx="2843689"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6F4EE"/>
                </a:solidFill>
                <a:latin typeface="Plus Jakarta Sans" pitchFamily="34" charset="0"/>
                <a:ea typeface="Plus Jakarta Sans" pitchFamily="34" charset="-122"/>
                <a:cs typeface="Plus Jakarta Sans" pitchFamily="34" charset="-120"/>
              </a:rPr>
              <a:t>Sodo Gebeya </a:t>
            </a:r>
            <a:r>
              <a:rPr lang="en-US" sz="1800" b="1" dirty="0">
                <a:solidFill>
                  <a:srgbClr val="E39B2D"/>
                </a:solidFill>
                <a:latin typeface="Plus Jakarta Sans" pitchFamily="34" charset="0"/>
                <a:ea typeface="Plus Jakarta Sans" pitchFamily="34" charset="-122"/>
                <a:cs typeface="Plus Jakarta Sans" pitchFamily="34" charset="-120"/>
              </a:rPr>
              <a:t>ሶዶ ገበያ</a:t>
            </a:r>
            <a:endParaRPr lang="en-US" sz="1800" dirty="0"/>
          </a:p>
        </p:txBody>
      </p:sp>
    </p:spTree>
  </p:cSld>
  <p:clrMapOvr>
    <a:masterClrMapping/>
  </p:clrMapOvr>
</p:sld>
</file>

<file path=ppt/theme/theme1.xml><?xml version="1.0" encoding="utf-8"?>
<a:theme xmlns:a="http://schemas.openxmlformats.org/drawingml/2006/main" name="Sodo Gebeya System Overview">
  <a:themeElements>
    <a:clrScheme name="Sodo Gebeya System Overview">
      <a:dk1>
        <a:srgbClr val="13201A"/>
      </a:dk1>
      <a:lt1>
        <a:srgbClr val="F6F4EE"/>
      </a:lt1>
      <a:dk2>
        <a:srgbClr val="4C554F"/>
      </a:dk2>
      <a:lt2>
        <a:srgbClr val="DFDFD9"/>
      </a:lt2>
      <a:accent1>
        <a:srgbClr val="0E5A43"/>
      </a:accent1>
      <a:accent2>
        <a:srgbClr val="95590F"/>
      </a:accent2>
      <a:accent3>
        <a:srgbClr val="E39B2D"/>
      </a:accent3>
      <a:accent4>
        <a:srgbClr val="0A3B2C"/>
      </a:accent4>
      <a:accent5>
        <a:srgbClr val="FBEBD2"/>
      </a:accent5>
      <a:accent6>
        <a:srgbClr val="6B400A"/>
      </a:accent6>
      <a:hlink>
        <a:srgbClr val="0563C1"/>
      </a:hlink>
      <a:folHlink>
        <a:srgbClr val="954F72"/>
      </a:folHlink>
    </a:clrScheme>
    <a:fontScheme name="Sodo Gebeya System Overview">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lus Jakarta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Sodo Gebeya System Overview</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Plus Jakarta Sans
Copyright 2020 The Plus Jakarta Sans Project Authors (https://github.com/tokotype/PlusJakartaSans)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2026-10-26T13:40:23Z</dcterms:created>
  <dcterms:modified xsi:type="dcterms:W3CDTF">2026-10-26T13:40:23Z</dcterms:modified>
</cp:coreProperties>
</file>